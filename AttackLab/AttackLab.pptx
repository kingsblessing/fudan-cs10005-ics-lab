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ink/ink2.xml" ContentType="application/inkml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60"/>
    <p:restoredTop sz="85463" autoAdjust="0"/>
  </p:normalViewPr>
  <p:slideViewPr>
    <p:cSldViewPr snapToGrid="0">
      <p:cViewPr varScale="1">
        <p:scale>
          <a:sx n="73" d="100"/>
          <a:sy n="73" d="100"/>
        </p:scale>
        <p:origin x="845" y="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tableStyles" Target="tableStyles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/Relationships>
</file>

<file path=ppt/ink/ink2.xml><?xml version="1.0" encoding="utf-8"?>
<ink xmlns="http://www.w3.org/2003/InkML">
  <definitions>
    <brush xml:id="br1">
      <brushProperty name="color" value="#000000"/>
      <brushProperty name="transparency" value="0"/>
      <brushProperty name="width" value="0.01984375" units="cm"/>
      <brushProperty name="tip" value="ellipse"/>
      <brushProperty name="fitToCurve" value="1"/>
      <brushProperty name="height" value="0.01984375" units="cm"/>
    </brush>
    <context xml:id="ctx0">
      <inkSource xml:id="inkSrc0">
        <traceFormat>
          <channel name="X" units="cm" defaultValue="0" type="decimal"/>
          <channel name="Y" units="cm" defaultValue="0" type="decimal"/>
          <channel name="F" max="1023" units="dev" defaultValue="0" type="decimal"/>
        </traceFormat>
        <channelProperties>
          <channelProperty channel="X" name="resolution" value="28.36041" units="1/cm"/>
          <channelProperty channel="Y" name="resolution" value="28.36041" units="1/cm"/>
          <channelProperty channel="F" name="resolution" value="1.0" units="1/dev"/>
        </channelProperties>
      </inkSource>
    </context>
  </definitions>
  <trace timeOffset="0.0" brushRef="#br1" contextRef="#ctx0"> 6911.495 3116.989 141.488</trace>
</ink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718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D2A48B96-639E-45A3-A0BA-2464DFDB1FAA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719" name="幻灯片图像占位符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altLang="en-US" lang="zh-CN"/>
          </a:p>
        </p:txBody>
      </p:sp>
      <p:sp>
        <p:nvSpPr>
          <p:cNvPr id="1048720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21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722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A6837353-30EB-4A48-80EB-173D804AEF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幻灯片图像占位符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CN" dirty="0" lang="en-US">
                <a:solidFill>
                  <a:srgbClr val="0E0E0E"/>
                </a:solidFill>
                <a:effectLst/>
                <a:latin typeface=".SF NS"/>
              </a:rPr>
              <a:t>Push</a:t>
            </a:r>
            <a:r>
              <a:rPr altLang="en-US" dirty="0" lang="zh-CN">
                <a:solidFill>
                  <a:srgbClr val="0E0E0E"/>
                </a:solidFill>
                <a:effectLst/>
                <a:latin typeface=".SF NS"/>
              </a:rPr>
              <a:t> </a:t>
            </a:r>
            <a:r>
              <a:rPr altLang="zh-CN" dirty="0" lang="en-US" err="1">
                <a:solidFill>
                  <a:srgbClr val="0E0E0E"/>
                </a:solidFill>
                <a:effectLst/>
                <a:latin typeface=".SF NS"/>
              </a:rPr>
              <a:t>rbp</a:t>
            </a:r>
            <a:r>
              <a:rPr altLang="en-US" dirty="0" lang="zh-CN">
                <a:solidFill>
                  <a:srgbClr val="0E0E0E"/>
                </a:solidFill>
                <a:effectLst/>
                <a:latin typeface=".SF NS"/>
              </a:rPr>
              <a:t>用于保存调用者的基址指针（</a:t>
            </a:r>
            <a:r>
              <a:rPr altLang="zh-CN" dirty="0" lang="en" err="1">
                <a:solidFill>
                  <a:srgbClr val="0E0E0E"/>
                </a:solidFill>
                <a:effectLst/>
                <a:latin typeface=".AppleSystemUIFontMonospaced"/>
              </a:rPr>
              <a:t>rbp</a:t>
            </a:r>
            <a:r>
              <a:rPr altLang="en" dirty="0" lang="zh-CN">
                <a:solidFill>
                  <a:srgbClr val="0E0E0E"/>
                </a:solidFill>
                <a:effectLst/>
                <a:latin typeface=".SF NS"/>
              </a:rPr>
              <a:t>），</a:t>
            </a:r>
            <a:r>
              <a:rPr altLang="en-US" dirty="0" lang="zh-CN">
                <a:solidFill>
                  <a:srgbClr val="0E0E0E"/>
                </a:solidFill>
                <a:effectLst/>
                <a:latin typeface=".SF NS"/>
              </a:rPr>
              <a:t>以便函数可以设置自己的栈帧，并且在函数返回时可以恢复调用者的栈环境。</a:t>
            </a:r>
          </a:p>
          <a:p>
            <a:endParaRPr altLang="en-US" dirty="0" kumimoji="1" lang="zh-CN"/>
          </a:p>
        </p:txBody>
      </p:sp>
      <p:sp>
        <p:nvSpPr>
          <p:cNvPr id="104860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altLang="en-US" lang="zh-CN" smtClean="0"/>
              <a:t>9</a:t>
            </a:fld>
            <a:endParaRPr altLang="en-US"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幻灯片图像占位符 1"/>
          <p:cNvSpPr>
            <a:spLocks noChangeAspect="1" noRot="1" noGrp="1"/>
          </p:cNvSpPr>
          <p:nvPr>
            <p:ph type="sldImg" idx="2"/>
          </p:nvPr>
        </p:nvSpPr>
        <p:spPr/>
      </p:sp>
      <p:sp>
        <p:nvSpPr>
          <p:cNvPr id="104860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altLang="en-US"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幻灯片图像占位符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altLang="zh-CN" b="1" dirty="0" i="0" lang="e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ROP</a:t>
            </a:r>
            <a:r>
              <a:rPr altLang="en" b="1" dirty="0" i="0" lang="zh-C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  <a:r>
              <a:rPr altLang="en-US" b="1" dirty="0" i="0" lang="zh-C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面向返回的程序设计</a:t>
            </a:r>
            <a:endParaRPr altLang="en-US" dirty="0" kumimoji="1" lang="zh-CN"/>
          </a:p>
        </p:txBody>
      </p:sp>
      <p:sp>
        <p:nvSpPr>
          <p:cNvPr id="104862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altLang="en-US" lang="zh-CN" smtClean="0"/>
              <a:t>12</a:t>
            </a:fld>
            <a:endParaRPr altLang="en-US"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幻灯片图像占位符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altLang="zh-CN" dirty="0" lang="en" err="1">
                <a:solidFill>
                  <a:srgbClr val="0E0E0E"/>
                </a:solidFill>
                <a:effectLst/>
                <a:latin typeface=".AppleSystemUIFontMonospaced"/>
              </a:rPr>
              <a:t>jmp</a:t>
            </a:r>
            <a:r>
              <a:rPr altLang="zh-CN" dirty="0" lang="en">
                <a:solidFill>
                  <a:srgbClr val="0E0E0E"/>
                </a:solidFill>
                <a:effectLst/>
                <a:latin typeface=".SF NS"/>
              </a:rPr>
              <a:t> </a:t>
            </a:r>
            <a:r>
              <a:rPr altLang="en-US" dirty="0" lang="zh-CN">
                <a:solidFill>
                  <a:srgbClr val="0E0E0E"/>
                </a:solidFill>
                <a:effectLst/>
                <a:latin typeface=".SF NS"/>
              </a:rPr>
              <a:t>和 </a:t>
            </a:r>
            <a:r>
              <a:rPr altLang="zh-CN" dirty="0" lang="en">
                <a:solidFill>
                  <a:srgbClr val="0E0E0E"/>
                </a:solidFill>
                <a:effectLst/>
                <a:latin typeface=".AppleSystemUIFontMonospaced"/>
              </a:rPr>
              <a:t>call</a:t>
            </a:r>
            <a:r>
              <a:rPr altLang="zh-CN" dirty="0" lang="en">
                <a:solidFill>
                  <a:srgbClr val="0E0E0E"/>
                </a:solidFill>
                <a:effectLst/>
                <a:latin typeface=".SF NS"/>
              </a:rPr>
              <a:t> </a:t>
            </a:r>
            <a:r>
              <a:rPr altLang="en-US" dirty="0" lang="zh-CN">
                <a:solidFill>
                  <a:srgbClr val="0E0E0E"/>
                </a:solidFill>
                <a:effectLst/>
                <a:latin typeface=".SF NS"/>
              </a:rPr>
              <a:t>指令依赖于计算当前程序计数器（</a:t>
            </a:r>
            <a:r>
              <a:rPr altLang="zh-CN" dirty="0" lang="en">
                <a:solidFill>
                  <a:srgbClr val="0E0E0E"/>
                </a:solidFill>
                <a:effectLst/>
                <a:latin typeface=".SF NS"/>
              </a:rPr>
              <a:t>PC</a:t>
            </a:r>
            <a:r>
              <a:rPr altLang="en" dirty="0" lang="zh-CN">
                <a:solidFill>
                  <a:srgbClr val="0E0E0E"/>
                </a:solidFill>
                <a:effectLst/>
                <a:latin typeface=".SF NS"/>
              </a:rPr>
              <a:t>）</a:t>
            </a:r>
            <a:r>
              <a:rPr altLang="en-US" dirty="0" lang="zh-CN">
                <a:solidFill>
                  <a:srgbClr val="0E0E0E"/>
                </a:solidFill>
                <a:effectLst/>
                <a:latin typeface=".SF NS"/>
              </a:rPr>
              <a:t>的偏移量，跳转的目标地址是相对当前指令的位置。</a:t>
            </a:r>
            <a:endParaRPr altLang="zh-CN" dirty="0" lang="en-US">
              <a:solidFill>
                <a:srgbClr val="0E0E0E"/>
              </a:solidFill>
              <a:effectLst/>
              <a:latin typeface=".SF NS"/>
            </a:endParaRPr>
          </a:p>
          <a:p>
            <a:r>
              <a:rPr altLang="en-US" dirty="0" lang="zh-CN">
                <a:solidFill>
                  <a:srgbClr val="0E0E0E"/>
                </a:solidFill>
                <a:effectLst/>
                <a:latin typeface=".SF NS"/>
              </a:rPr>
              <a:t>这种方式在某些情况下可能难以控制，尤其是在复杂的程序中，需要精确计算偏移量。</a:t>
            </a:r>
            <a:endParaRPr altLang="zh-CN" dirty="0" lang="en-US">
              <a:solidFill>
                <a:srgbClr val="0E0E0E"/>
              </a:solidFill>
              <a:effectLst/>
              <a:latin typeface=".SF NS"/>
            </a:endParaRPr>
          </a:p>
          <a:p>
            <a:r>
              <a:rPr altLang="en-US" dirty="0" lang="zh-CN">
                <a:solidFill>
                  <a:srgbClr val="0E0E0E"/>
                </a:solidFill>
                <a:effectLst/>
                <a:latin typeface=".SF NS"/>
              </a:rPr>
              <a:t>而通过控制 </a:t>
            </a:r>
            <a:r>
              <a:rPr altLang="zh-CN" dirty="0" lang="en">
                <a:solidFill>
                  <a:srgbClr val="0E0E0E"/>
                </a:solidFill>
                <a:effectLst/>
                <a:latin typeface=".AppleSystemUIFontMonospaced"/>
              </a:rPr>
              <a:t>ret</a:t>
            </a:r>
            <a:r>
              <a:rPr altLang="en" dirty="0" lang="zh-CN">
                <a:solidFill>
                  <a:srgbClr val="0E0E0E"/>
                </a:solidFill>
                <a:effectLst/>
                <a:latin typeface=".SF NS"/>
              </a:rPr>
              <a:t>，</a:t>
            </a:r>
            <a:r>
              <a:rPr altLang="en-US" dirty="0" lang="zh-CN">
                <a:solidFill>
                  <a:srgbClr val="0E0E0E"/>
                </a:solidFill>
                <a:effectLst/>
                <a:latin typeface=".SF NS"/>
              </a:rPr>
              <a:t>可以直接跳转到绝对地址（如 </a:t>
            </a:r>
            <a:r>
              <a:rPr altLang="zh-CN" dirty="0" lang="en">
                <a:solidFill>
                  <a:srgbClr val="0E0E0E"/>
                </a:solidFill>
                <a:effectLst/>
                <a:latin typeface=".AppleSystemUIFontMonospaced"/>
              </a:rPr>
              <a:t>touch2</a:t>
            </a:r>
            <a:r>
              <a:rPr altLang="zh-CN" dirty="0" lang="en">
                <a:solidFill>
                  <a:srgbClr val="0E0E0E"/>
                </a:solidFill>
                <a:effectLst/>
                <a:latin typeface=".SF NS"/>
              </a:rPr>
              <a:t> </a:t>
            </a:r>
            <a:r>
              <a:rPr altLang="en-US" dirty="0" lang="zh-CN">
                <a:solidFill>
                  <a:srgbClr val="0E0E0E"/>
                </a:solidFill>
                <a:effectLst/>
                <a:latin typeface=".SF NS"/>
              </a:rPr>
              <a:t>的函数地址），不需要考虑偏移量问题，操作相对简单</a:t>
            </a:r>
            <a:r>
              <a:rPr altLang="en-US" dirty="0" lang="zh-CN"/>
              <a:t>。</a:t>
            </a:r>
            <a:endParaRPr altLang="zh-CN" dirty="0" lang="en-US"/>
          </a:p>
          <a:p>
            <a:endParaRPr altLang="en-US" dirty="0" kumimoji="1" lang="zh-CN"/>
          </a:p>
        </p:txBody>
      </p:sp>
      <p:sp>
        <p:nvSpPr>
          <p:cNvPr id="104864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altLang="en-US" lang="zh-CN" smtClean="0"/>
              <a:t>21</a:t>
            </a:fld>
            <a:endParaRPr altLang="en-US"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幻灯片图像占位符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>
              <a:buFont typeface="Arial" panose="020B0604020202020204" pitchFamily="34" charset="0"/>
              <a:buChar char="•"/>
            </a:pPr>
            <a:r>
              <a:rPr altLang="en-US" b="0" dirty="0" i="0" lang="zh-C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栈随机化。这段程序分配的栈的位置在每次运行时都是随机的，这就使我们无法确定在哪里插入代码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altLang="en-US" b="0" dirty="0" i="0" lang="zh-C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限制可执行代码区域。它限制栈上存放的代码是不可执行的。</a:t>
            </a:r>
            <a:endParaRPr altLang="zh-CN" b="0" dirty="0" i="0" lang="en-US">
              <a:solidFill>
                <a:srgbClr val="191B1F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altLang="zh-CN" b="0" dirty="0" i="0" lang="en-US">
              <a:solidFill>
                <a:srgbClr val="191B1F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altLang="zh-CN" b="1" dirty="0" i="0" lang="e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ROP</a:t>
            </a:r>
            <a:r>
              <a:rPr altLang="en" b="1" dirty="0" i="0" lang="zh-C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  <a:r>
              <a:rPr altLang="en-US" b="1" dirty="0" i="0" lang="zh-C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面向返回的程序设计</a:t>
            </a:r>
            <a:endParaRPr altLang="zh-CN" b="1" dirty="0" i="0" lang="en-US">
              <a:solidFill>
                <a:srgbClr val="191B1F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altLang="en-US" b="0" dirty="0" i="0" lang="zh-C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在已经存在的程序中找到特定的</a:t>
            </a:r>
            <a:r>
              <a:rPr altLang="en-US" b="1" dirty="0" i="0" lang="zh-C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以</a:t>
            </a:r>
            <a:r>
              <a:rPr altLang="zh-CN" b="1" dirty="0" lang="en"/>
              <a:t>ret</a:t>
            </a:r>
            <a:r>
              <a:rPr altLang="en-US" b="1" dirty="0" i="0" lang="zh-C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结尾的指令序列</a:t>
            </a:r>
            <a:r>
              <a:rPr altLang="en-US" b="0" dirty="0" i="0" lang="zh-CN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为我们所用，称这样的代码段为</a:t>
            </a:r>
            <a:r>
              <a:rPr altLang="zh-CN" b="1" dirty="0" lang="en"/>
              <a:t>gadget</a:t>
            </a:r>
            <a:endParaRPr altLang="en-US" b="1" dirty="0" i="0" lang="zh-CN">
              <a:solidFill>
                <a:srgbClr val="191B1F"/>
              </a:solidFill>
              <a:effectLst/>
              <a:highlight>
                <a:srgbClr val="FFFFFF"/>
              </a:highlight>
              <a:latin typeface="-apple-system"/>
            </a:endParaRPr>
          </a:p>
        </p:txBody>
      </p:sp>
      <p:sp>
        <p:nvSpPr>
          <p:cNvPr id="104865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altLang="en-US" lang="zh-CN" smtClean="0"/>
              <a:t>27</a:t>
            </a:fld>
            <a:endParaRPr altLang="en-US"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幻灯片图像占位符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66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altLang="en-US" lang="zh-CN" smtClean="0"/>
              <a:t>31</a:t>
            </a:fld>
            <a:endParaRPr altLang="en-US"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611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</a:p>
        </p:txBody>
      </p:sp>
      <p:sp>
        <p:nvSpPr>
          <p:cNvPr id="104861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61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582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590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/>
              <a:t>编辑母版文本样式</a:t>
            </a:r>
          </a:p>
        </p:txBody>
      </p:sp>
      <p:sp>
        <p:nvSpPr>
          <p:cNvPr id="104859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59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695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696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69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69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9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01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编辑母版文本样式</a:t>
            </a:r>
          </a:p>
        </p:txBody>
      </p:sp>
      <p:sp>
        <p:nvSpPr>
          <p:cNvPr id="1048702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03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编辑母版文本样式</a:t>
            </a:r>
          </a:p>
        </p:txBody>
      </p:sp>
      <p:sp>
        <p:nvSpPr>
          <p:cNvPr id="1048704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05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70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07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67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67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7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70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12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13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编辑母版文本样式</a:t>
            </a:r>
          </a:p>
        </p:txBody>
      </p:sp>
      <p:sp>
        <p:nvSpPr>
          <p:cNvPr id="104871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71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1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684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685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编辑母版文本样式</a:t>
            </a:r>
          </a:p>
        </p:txBody>
      </p:sp>
      <p:sp>
        <p:nvSpPr>
          <p:cNvPr id="104868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68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8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690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69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69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竖排标题与文本"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679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68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68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5A9BE-CC2B-47CB-A48E-8C5BF1FA639E}" type="datetimeFigureOut">
              <a:rPr altLang="en-US" lang="zh-CN" smtClean="0"/>
              <a:t>2025/11/6</a:t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F5DE0-495D-4B3C-963F-40E5C0F2A6B3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hyperlink" Target="https://csapp.cs.cmu.edu/3e/labs.html" TargetMode="Externa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customXml" Target="../ink/ink2.x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hyperlink" Target="https://csapp.cs.cmu.edu/3e/labs.html" TargetMode="External"/><Relationship Id="rId2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11.png"/><Relationship Id="rId3" Type="http://schemas.openxmlformats.org/officeDocument/2006/relationships/tags" Target="../tags/tag2.xml"/><Relationship Id="rId4" Type="http://schemas.openxmlformats.org/officeDocument/2006/relationships/image" Target="../media/image12.png"/><Relationship Id="rId5" Type="http://schemas.openxmlformats.org/officeDocument/2006/relationships/tags" Target="../tags/tag3.xml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altLang="zh-CN" dirty="0" lang="en-US" err="1"/>
              <a:t>AttackLab</a:t>
            </a:r>
            <a:endParaRPr altLang="en-US" dirty="0" lang="zh-CN"/>
          </a:p>
        </p:txBody>
      </p:sp>
      <p:sp>
        <p:nvSpPr>
          <p:cNvPr id="1048616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r"/>
            <a:fld id="{F1329622-6CF7-4D37-9D96-BF9142892B98}" type="datetime1">
              <a:rPr altLang="en-US" lang="zh-CN" smtClean="0"/>
              <a:t>2025/11/25</a:t>
            </a:fld>
            <a:endParaRPr altLang="en-US" dirty="0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内容占位符 2"/>
          <p:cNvSpPr>
            <a:spLocks noGrp="1"/>
          </p:cNvSpPr>
          <p:nvPr>
            <p:ph idx="1"/>
          </p:nvPr>
        </p:nvSpPr>
        <p:spPr>
          <a:xfrm>
            <a:off x="838200" y="1158875"/>
            <a:ext cx="10506075" cy="3226312"/>
          </a:xfrm>
        </p:spPr>
        <p:txBody>
          <a:bodyPr>
            <a:noAutofit/>
          </a:bodyPr>
          <a:p>
            <a:r>
              <a:rPr altLang="en-US" dirty="0" sz="5400" lang="zh-CN"/>
              <a:t>重要：请同学们在开始</a:t>
            </a:r>
            <a:r>
              <a:rPr altLang="zh-CN" dirty="0" sz="5400" lang="en-US"/>
              <a:t>lab</a:t>
            </a:r>
            <a:r>
              <a:rPr altLang="en-US" dirty="0" sz="5400" lang="zh-CN"/>
              <a:t>前仔细阅读</a:t>
            </a:r>
            <a:r>
              <a:rPr altLang="zh-CN" dirty="0" sz="5400" lang="en-US">
                <a:solidFill>
                  <a:srgbClr val="FF0000"/>
                </a:solidFill>
              </a:rPr>
              <a:t>attacklab.pdf</a:t>
            </a:r>
            <a:r>
              <a:rPr altLang="en-US" dirty="0" sz="5400" lang="zh-CN">
                <a:solidFill>
                  <a:srgbClr val="FF0000"/>
                </a:solidFill>
              </a:rPr>
              <a:t>，</a:t>
            </a:r>
            <a:r>
              <a:rPr altLang="en-US" dirty="0" sz="5400" lang="zh-CN"/>
              <a:t>里面包含完成</a:t>
            </a:r>
            <a:r>
              <a:rPr altLang="zh-CN" dirty="0" sz="5400" lang="en-US"/>
              <a:t>lab</a:t>
            </a:r>
            <a:r>
              <a:rPr altLang="en-US" dirty="0" sz="5400" lang="zh-CN"/>
              <a:t>详细的指导和提醒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标题 1"/>
          <p:cNvSpPr>
            <a:spLocks noGrp="1"/>
          </p:cNvSpPr>
          <p:nvPr>
            <p:ph type="title"/>
          </p:nvPr>
        </p:nvSpPr>
        <p:spPr>
          <a:xfrm>
            <a:off x="653469" y="338950"/>
            <a:ext cx="4700752" cy="791013"/>
          </a:xfrm>
        </p:spPr>
        <p:txBody>
          <a:bodyPr/>
          <a:p>
            <a:r>
              <a:rPr altLang="en-US" dirty="0" lang="zh-CN"/>
              <a:t>程序无法运行情况</a:t>
            </a:r>
          </a:p>
        </p:txBody>
      </p:sp>
      <p:pic>
        <p:nvPicPr>
          <p:cNvPr id="2097156" name="图片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61017" y="3071762"/>
            <a:ext cx="9640645" cy="714475"/>
          </a:xfrm>
          <a:prstGeom prst="rect"/>
        </p:spPr>
      </p:pic>
      <p:sp>
        <p:nvSpPr>
          <p:cNvPr id="1048619" name="文本框 5"/>
          <p:cNvSpPr txBox="1"/>
          <p:nvPr/>
        </p:nvSpPr>
        <p:spPr>
          <a:xfrm>
            <a:off x="653469" y="1320515"/>
            <a:ext cx="9848193" cy="22250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3200" lang="zh-CN"/>
              <a:t>如果运行</a:t>
            </a:r>
            <a:r>
              <a:rPr altLang="zh-CN" dirty="0" sz="3200" lang="en-US"/>
              <a:t>./</a:t>
            </a:r>
            <a:r>
              <a:rPr altLang="zh-CN" dirty="0" sz="3200" lang="en-US" err="1"/>
              <a:t>ctarget</a:t>
            </a:r>
            <a:r>
              <a:rPr altLang="en-US" dirty="0" sz="3200" lang="zh-CN"/>
              <a:t>等程序出现如下错误，记得要加上</a:t>
            </a:r>
            <a:r>
              <a:rPr altLang="zh-CN" dirty="0" sz="3200" lang="en-US"/>
              <a:t>-q</a:t>
            </a:r>
            <a:r>
              <a:rPr altLang="en-US" dirty="0" sz="3200" lang="zh-CN"/>
              <a:t>参数运行（</a:t>
            </a:r>
            <a:r>
              <a:rPr altLang="zh-CN" dirty="0" sz="3200" lang="en-US"/>
              <a:t>-q </a:t>
            </a:r>
            <a:r>
              <a:rPr altLang="en-US" dirty="0" sz="3200" lang="zh-CN"/>
              <a:t>会禁止程序把结果发送到</a:t>
            </a:r>
            <a:r>
              <a:rPr altLang="zh-CN" dirty="0" sz="3200" lang="en-US"/>
              <a:t>CMU</a:t>
            </a:r>
            <a:r>
              <a:rPr altLang="en-US" dirty="0" sz="3200" lang="zh-CN"/>
              <a:t>服务器）。</a:t>
            </a:r>
            <a:endParaRPr altLang="zh-CN" dirty="0" sz="3200" lang="en-US"/>
          </a:p>
          <a:p>
            <a:r>
              <a:rPr altLang="zh-CN" dirty="0" sz="3200" lang="en-US" err="1"/>
              <a:t>gdb</a:t>
            </a:r>
            <a:r>
              <a:rPr altLang="en-US" dirty="0" sz="3200" lang="zh-CN"/>
              <a:t>中</a:t>
            </a:r>
            <a:r>
              <a:rPr altLang="zh-CN" dirty="0" sz="3200" lang="en-US"/>
              <a:t>run</a:t>
            </a:r>
            <a:r>
              <a:rPr altLang="en-US" dirty="0" sz="3200" lang="zh-CN"/>
              <a:t>也要加上</a:t>
            </a:r>
            <a:r>
              <a:rPr altLang="zh-CN" dirty="0" sz="3200" lang="en-US"/>
              <a:t>-q</a:t>
            </a:r>
            <a:r>
              <a:rPr altLang="en-US" dirty="0" sz="3200" lang="zh-CN"/>
              <a:t>参数</a:t>
            </a:r>
            <a:endParaRPr altLang="zh-CN" dirty="0" sz="3200" lang="en-US"/>
          </a:p>
        </p:txBody>
      </p:sp>
      <p:pic>
        <p:nvPicPr>
          <p:cNvPr id="2097157" name="图片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1017" y="4013272"/>
            <a:ext cx="7830643" cy="1524213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图片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10113" y="120467"/>
            <a:ext cx="7493059" cy="2123661"/>
          </a:xfrm>
          <a:prstGeom prst="rect"/>
        </p:spPr>
      </p:pic>
      <p:pic>
        <p:nvPicPr>
          <p:cNvPr id="2097155" name="图片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10113" y="3084384"/>
            <a:ext cx="7668695" cy="3400900"/>
          </a:xfrm>
          <a:prstGeom prst="rect"/>
        </p:spPr>
      </p:pic>
      <p:sp>
        <p:nvSpPr>
          <p:cNvPr id="1048609" name="文本框 5">
            <a:hlinkClick r:id="rId3"/>
          </p:cNvPr>
          <p:cNvSpPr txBox="1"/>
          <p:nvPr/>
        </p:nvSpPr>
        <p:spPr>
          <a:xfrm>
            <a:off x="810113" y="2448910"/>
            <a:ext cx="7314384" cy="497839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dirty="0" sz="2400" lang="en-US">
                <a:hlinkClick r:id="rId3"/>
              </a:rPr>
              <a:t>CSAPP</a:t>
            </a:r>
            <a:r>
              <a:rPr altLang="en-US" dirty="0" sz="2400" lang="zh-CN"/>
              <a:t>官网提示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dirty="0" lang="zh-CN"/>
              <a:t>完成本次</a:t>
            </a:r>
            <a:r>
              <a:rPr altLang="zh-CN" dirty="0" lang="en-US"/>
              <a:t>lab</a:t>
            </a:r>
            <a:r>
              <a:rPr altLang="en-US" dirty="0" lang="zh-CN"/>
              <a:t>的收获</a:t>
            </a:r>
          </a:p>
        </p:txBody>
      </p:sp>
      <p:sp>
        <p:nvSpPr>
          <p:cNvPr id="1048604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10982093" cy="4351338"/>
          </a:xfrm>
        </p:spPr>
        <p:txBody>
          <a:bodyPr>
            <a:normAutofit/>
          </a:bodyPr>
          <a:p>
            <a:r>
              <a:rPr altLang="en-US" dirty="0" sz="4000" lang="zh-CN"/>
              <a:t>了解栈溢出的几种攻击，以及如何写出更安全的代码</a:t>
            </a:r>
            <a:endParaRPr altLang="zh-CN" dirty="0" sz="4000" lang="en-US"/>
          </a:p>
          <a:p>
            <a:r>
              <a:rPr altLang="en-US" dirty="0" sz="4000" lang="zh-CN"/>
              <a:t>加深对</a:t>
            </a:r>
            <a:r>
              <a:rPr altLang="zh-CN" dirty="0" sz="4000" lang="en-US"/>
              <a:t>X86-64</a:t>
            </a:r>
            <a:r>
              <a:rPr altLang="en-US" dirty="0" sz="4000" lang="zh-CN"/>
              <a:t>栈结构和调用函数时传参机制的了解</a:t>
            </a:r>
            <a:endParaRPr altLang="zh-CN" dirty="0" sz="4000" lang="en-US"/>
          </a:p>
          <a:p>
            <a:r>
              <a:rPr altLang="en-US" dirty="0" sz="4000" lang="zh-CN"/>
              <a:t>进一步加深对</a:t>
            </a:r>
            <a:r>
              <a:rPr altLang="zh-CN" dirty="0" sz="4000" lang="en-US"/>
              <a:t>GDB</a:t>
            </a:r>
            <a:r>
              <a:rPr altLang="en-US" dirty="0" sz="4000" lang="zh-CN"/>
              <a:t>等调试工具的掌握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Lab</a:t>
            </a:r>
            <a:r>
              <a:rPr altLang="en-US" dirty="0" lang="zh-CN"/>
              <a:t>提交</a:t>
            </a:r>
          </a:p>
        </p:txBody>
      </p:sp>
      <p:sp>
        <p:nvSpPr>
          <p:cNvPr id="104859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286875" cy="4351338"/>
          </a:xfrm>
        </p:spPr>
        <p:txBody>
          <a:bodyPr/>
          <a:p>
            <a:r>
              <a:rPr altLang="zh-CN" dirty="0" sz="4800" lang="en-US">
                <a:solidFill>
                  <a:srgbClr val="FF0000"/>
                </a:solidFill>
              </a:rPr>
              <a:t>DDL:2025/11/26 23:59</a:t>
            </a:r>
          </a:p>
          <a:p>
            <a:pPr indent="0" marL="0">
              <a:buNone/>
            </a:pPr>
            <a:r>
              <a:rPr altLang="en-US" dirty="0" lang="zh-CN"/>
              <a:t>提交内容</a:t>
            </a:r>
            <a:endParaRPr altLang="zh-CN" dirty="0" lang="en-US"/>
          </a:p>
          <a:p>
            <a:pPr indent="0" marL="0">
              <a:buNone/>
            </a:pPr>
            <a:r>
              <a:rPr altLang="zh-CN" dirty="0" lang="en-US"/>
              <a:t>1.</a:t>
            </a:r>
            <a:r>
              <a:rPr altLang="en-US" dirty="0" lang="zh-CN"/>
              <a:t>一个</a:t>
            </a:r>
            <a:r>
              <a:rPr altLang="zh-CN" dirty="0" lang="en-US"/>
              <a:t>pdf</a:t>
            </a:r>
            <a:r>
              <a:rPr altLang="en-US" dirty="0" lang="zh-CN"/>
              <a:t>，包含每一关的通过截图和对构造的字符串的解释与思路（重要）</a:t>
            </a:r>
            <a:endParaRPr altLang="zh-CN" dirty="0" lang="en-US"/>
          </a:p>
          <a:p>
            <a:pPr indent="0" marL="0">
              <a:buNone/>
            </a:pPr>
            <a:r>
              <a:rPr altLang="zh-CN" dirty="0" lang="en-US"/>
              <a:t>2.</a:t>
            </a:r>
            <a:r>
              <a:rPr altLang="en-US" dirty="0" lang="zh-CN"/>
              <a:t>一个文本文件，包含每一关的十六进制字符串</a:t>
            </a:r>
            <a:endParaRPr altLang="zh-CN" dirty="0" lang="en-US"/>
          </a:p>
          <a:p>
            <a:pPr indent="0" marL="0">
              <a:buNone/>
            </a:pPr>
            <a:r>
              <a:rPr altLang="zh-CN" dirty="0" lang="en-US"/>
              <a:t>3.</a:t>
            </a:r>
            <a:r>
              <a:rPr altLang="en-US" dirty="0" lang="zh-CN"/>
              <a:t> 体会，参考网站，对助教的建议等等</a:t>
            </a:r>
            <a:r>
              <a:rPr altLang="zh-CN" dirty="0" lang="en-US"/>
              <a:t>(Optional)</a:t>
            </a:r>
            <a:endParaRPr altLang="en-US" dirty="0"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Lab</a:t>
            </a:r>
            <a:r>
              <a:rPr altLang="en-US" dirty="0" lang="zh-CN"/>
              <a:t>评分占比</a:t>
            </a:r>
            <a:r>
              <a:rPr altLang="zh-CN" dirty="0" lang="en-US"/>
              <a:t>	</a:t>
            </a:r>
            <a:endParaRPr altLang="en-US" dirty="0" lang="zh-CN"/>
          </a:p>
        </p:txBody>
      </p:sp>
      <p:sp>
        <p:nvSpPr>
          <p:cNvPr id="1048587" name="内容占位符 2"/>
          <p:cNvSpPr>
            <a:spLocks noGrp="1"/>
          </p:cNvSpPr>
          <p:nvPr>
            <p:ph idx="1"/>
          </p:nvPr>
        </p:nvSpPr>
        <p:spPr>
          <a:xfrm>
            <a:off x="838200" y="1538085"/>
            <a:ext cx="10515600" cy="4351338"/>
          </a:xfrm>
        </p:spPr>
        <p:txBody>
          <a:bodyPr/>
          <a:p>
            <a:r>
              <a:rPr altLang="zh-CN" dirty="0" lang="en-US" err="1"/>
              <a:t>Ctarget</a:t>
            </a:r>
            <a:r>
              <a:rPr altLang="zh-CN" dirty="0" lang="en-US"/>
              <a:t> Level1</a:t>
            </a:r>
            <a:r>
              <a:rPr altLang="en-US" dirty="0" lang="zh-CN"/>
              <a:t>（</a:t>
            </a:r>
            <a:r>
              <a:rPr altLang="zh-CN" dirty="0" lang="en-US"/>
              <a:t>10%</a:t>
            </a:r>
            <a:r>
              <a:rPr altLang="en-US" dirty="0" lang="zh-CN"/>
              <a:t>）</a:t>
            </a:r>
            <a:endParaRPr altLang="zh-CN" dirty="0" lang="en-US"/>
          </a:p>
          <a:p>
            <a:r>
              <a:rPr altLang="zh-CN" dirty="0" lang="en-US" err="1"/>
              <a:t>Ctarget</a:t>
            </a:r>
            <a:r>
              <a:rPr altLang="zh-CN" dirty="0" lang="en-US"/>
              <a:t> Level2-3, Rtarget-Level2</a:t>
            </a:r>
            <a:r>
              <a:rPr altLang="en-US" dirty="0" lang="zh-CN"/>
              <a:t>（每题</a:t>
            </a:r>
            <a:r>
              <a:rPr altLang="zh-CN" dirty="0" lang="en-US"/>
              <a:t>20%</a:t>
            </a:r>
            <a:r>
              <a:rPr altLang="en-US" dirty="0" lang="zh-CN"/>
              <a:t>）</a:t>
            </a:r>
            <a:endParaRPr altLang="zh-CN" dirty="0" lang="en-US"/>
          </a:p>
          <a:p>
            <a:r>
              <a:rPr altLang="en-US" dirty="0" lang="zh-CN"/>
              <a:t>实验报告（</a:t>
            </a:r>
            <a:r>
              <a:rPr altLang="zh-CN" dirty="0" lang="en-US"/>
              <a:t>20%</a:t>
            </a:r>
            <a:r>
              <a:rPr altLang="en-US" dirty="0" lang="zh-CN"/>
              <a:t>）</a:t>
            </a:r>
            <a:endParaRPr altLang="zh-CN" dirty="0" lang="en-US"/>
          </a:p>
          <a:p>
            <a:pPr indent="0" marL="0">
              <a:buNone/>
            </a:pPr>
            <a:endParaRPr altLang="zh-CN" dirty="0" lang="en-US"/>
          </a:p>
          <a:p>
            <a:r>
              <a:rPr altLang="zh-CN" dirty="0" lang="en-US"/>
              <a:t>Rtarget-Level3 </a:t>
            </a:r>
            <a:r>
              <a:rPr altLang="en-US" dirty="0" lang="zh-CN"/>
              <a:t>（</a:t>
            </a:r>
            <a:r>
              <a:rPr altLang="zh-CN" dirty="0" lang="en-US"/>
              <a:t>10%</a:t>
            </a:r>
            <a:r>
              <a:rPr altLang="en-US" dirty="0" lang="zh-CN"/>
              <a:t>）</a:t>
            </a:r>
            <a:endParaRPr altLang="zh-CN" dirty="0" lang="en-US"/>
          </a:p>
          <a:p>
            <a:pPr indent="0" lvl="1" marL="457200">
              <a:buNone/>
            </a:pPr>
            <a:r>
              <a:rPr altLang="en-US" dirty="0" lang="zh-CN"/>
              <a:t>该题难度较大，不要求同学们一定要完成。想要挑战自己的同学可以尝试，本次</a:t>
            </a:r>
            <a:r>
              <a:rPr altLang="en-US" dirty="0" lang="zh-CN">
                <a:solidFill>
                  <a:srgbClr val="FF0000"/>
                </a:solidFill>
              </a:rPr>
              <a:t>只要完成前三项就可得到满分</a:t>
            </a:r>
            <a:r>
              <a:rPr altLang="en-US" dirty="0" lang="zh-CN"/>
              <a:t>，做出这题也不会超过</a:t>
            </a:r>
            <a:r>
              <a:rPr altLang="zh-CN" dirty="0" lang="en-US"/>
              <a:t>100</a:t>
            </a:r>
            <a:r>
              <a:rPr altLang="en-US" dirty="0" lang="zh-CN"/>
              <a:t>分。</a:t>
            </a:r>
            <a:endParaRPr altLang="zh-CN" dirty="0"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">
            <p14:nvContentPartPr>
              <p14:cNvPr id="1048588" name=""/>
              <p14:cNvContentPartPr/>
              <p14:nvPr/>
            </p14:nvContentPartPr>
            <p14:xfrm>
              <a:off x="3317517" y="1496154"/>
              <a:ext cx="0" cy="0"/>
            </p14:xfrm>
          </p:contentPart>
        </mc:Choice>
        <mc:Fallback>
          <p:sp>
            <p:nvSpPr>
              <p:cNvPr id="1048588" name=""/>
              <p:cNvSpPr/>
              <p:nvPr/>
            </p:nvSpPr>
            <p:spPr>
              <a:xfrm>
                <a:off x="3317517" y="1496154"/>
                <a:ext cx="0" cy="0"/>
              </a:xfrm>
            </p:spPr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标题 1"/>
          <p:cNvSpPr>
            <a:spLocks noGrp="1"/>
          </p:cNvSpPr>
          <p:nvPr>
            <p:ph type="title"/>
          </p:nvPr>
        </p:nvSpPr>
        <p:spPr>
          <a:xfrm>
            <a:off x="838200" y="861859"/>
            <a:ext cx="10515600" cy="1295400"/>
          </a:xfrm>
        </p:spPr>
        <p:txBody>
          <a:bodyPr>
            <a:normAutofit fontScale="90000"/>
          </a:bodyPr>
          <a:p>
            <a:r>
              <a:rPr altLang="en-US" lang="zh-CN"/>
              <a:t>复习</a:t>
            </a:r>
            <a:br>
              <a:rPr altLang="zh-CN" dirty="0" lang="en-US"/>
            </a:br>
            <a:r>
              <a:rPr altLang="zh-CN" dirty="0" lang="en-US">
                <a:hlinkClick r:id="rId1"/>
              </a:rPr>
              <a:t>CS:APP3e, Bryant and </a:t>
            </a:r>
            <a:r>
              <a:rPr altLang="zh-CN" dirty="0" lang="en-US" err="1">
                <a:hlinkClick r:id="rId1"/>
              </a:rPr>
              <a:t>O'Hallaron</a:t>
            </a:r>
            <a:endParaRPr altLang="en-US" dirty="0" lang="zh-CN"/>
          </a:p>
        </p:txBody>
      </p:sp>
      <p:sp>
        <p:nvSpPr>
          <p:cNvPr id="1048595" name="文本占位符 2"/>
          <p:cNvSpPr>
            <a:spLocks noGrp="1"/>
          </p:cNvSpPr>
          <p:nvPr>
            <p:ph type="body" idx="1"/>
          </p:nvPr>
        </p:nvSpPr>
        <p:spPr>
          <a:xfrm>
            <a:off x="935703" y="2548246"/>
            <a:ext cx="10515600" cy="1500187"/>
          </a:xfrm>
        </p:spPr>
        <p:txBody>
          <a:bodyPr/>
          <a:p>
            <a:r>
              <a:rPr altLang="en-US" dirty="0" lang="zh-CN"/>
              <a:t>栈帧结构</a:t>
            </a:r>
            <a:endParaRPr altLang="zh-CN" dirty="0" lang="en-US"/>
          </a:p>
          <a:p>
            <a:r>
              <a:rPr altLang="en-US" dirty="0" lang="zh-CN"/>
              <a:t>缓冲区溢出漏洞</a:t>
            </a:r>
            <a:endParaRPr altLang="zh-CN" dirty="0" lang="en-US"/>
          </a:p>
          <a:p>
            <a:r>
              <a:rPr altLang="en-US" dirty="0" lang="zh-CN"/>
              <a:t>对抗缓冲区溢出的保护</a:t>
            </a:r>
            <a:endParaRPr altLang="zh-CN" dirty="0" lang="en-US"/>
          </a:p>
          <a:p>
            <a:endParaRPr altLang="en-US" dirty="0"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dirty="0" lang="zh-CN"/>
              <a:t>栈帧结构</a:t>
            </a:r>
          </a:p>
        </p:txBody>
      </p:sp>
      <p:sp>
        <p:nvSpPr>
          <p:cNvPr id="1048599" name="内容占位符 7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en-US" dirty="0" lang="zh-CN"/>
              <a:t>书</a:t>
            </a:r>
            <a:r>
              <a:rPr altLang="zh-CN" dirty="0" lang="en-US"/>
              <a:t>P164</a:t>
            </a:r>
            <a:r>
              <a:rPr altLang="en-US" dirty="0" lang="zh-CN"/>
              <a:t>（</a:t>
            </a:r>
            <a:r>
              <a:rPr altLang="zh-CN" dirty="0" lang="en-US"/>
              <a:t>CSAPP 3e</a:t>
            </a:r>
            <a:r>
              <a:rPr altLang="en-US" dirty="0" lang="zh-CN"/>
              <a:t>中文）</a:t>
            </a:r>
            <a:endParaRPr altLang="zh-CN" dirty="0" lang="en-US"/>
          </a:p>
          <a:p>
            <a:r>
              <a:rPr altLang="en-US" dirty="0" lang="zh-CN"/>
              <a:t>前六个参数在寄存器里面</a:t>
            </a:r>
            <a:endParaRPr altLang="zh-CN" dirty="0" lang="en-US"/>
          </a:p>
          <a:p>
            <a:r>
              <a:rPr altLang="zh-CN" dirty="0" lang="en-US" err="1"/>
              <a:t>rdi</a:t>
            </a:r>
            <a:r>
              <a:rPr altLang="zh-CN" dirty="0" lang="en-US"/>
              <a:t> </a:t>
            </a:r>
            <a:r>
              <a:rPr altLang="zh-CN" dirty="0" lang="en-US" err="1"/>
              <a:t>rsi</a:t>
            </a:r>
            <a:r>
              <a:rPr altLang="zh-CN" dirty="0" lang="en-US"/>
              <a:t> </a:t>
            </a:r>
            <a:r>
              <a:rPr altLang="zh-CN" dirty="0" lang="en-US" err="1"/>
              <a:t>rdx</a:t>
            </a:r>
            <a:r>
              <a:rPr altLang="zh-CN" dirty="0" lang="en-US"/>
              <a:t> </a:t>
            </a:r>
            <a:r>
              <a:rPr altLang="zh-CN" dirty="0" lang="en-US" err="1"/>
              <a:t>rcx</a:t>
            </a:r>
            <a:r>
              <a:rPr altLang="zh-CN" dirty="0" lang="en-US"/>
              <a:t> r8 r9</a:t>
            </a:r>
          </a:p>
          <a:p>
            <a:r>
              <a:rPr altLang="en-US" dirty="0" lang="zh-CN"/>
              <a:t>（该</a:t>
            </a:r>
            <a:r>
              <a:rPr altLang="zh-CN" dirty="0" lang="en-US"/>
              <a:t>lab</a:t>
            </a:r>
            <a:r>
              <a:rPr altLang="en-US" dirty="0" lang="zh-CN"/>
              <a:t>没有</a:t>
            </a:r>
            <a:r>
              <a:rPr altLang="zh-CN" dirty="0" lang="en-US"/>
              <a:t>push </a:t>
            </a:r>
            <a:r>
              <a:rPr altLang="zh-CN" dirty="0" lang="en-US" err="1"/>
              <a:t>rbp</a:t>
            </a:r>
            <a:r>
              <a:rPr altLang="en-US" dirty="0" lang="zh-CN"/>
              <a:t>）</a:t>
            </a:r>
            <a:endParaRPr altLang="zh-CN" dirty="0" lang="en-US"/>
          </a:p>
        </p:txBody>
      </p:sp>
      <p:pic>
        <p:nvPicPr>
          <p:cNvPr id="2097152" name="图片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86975" y="0"/>
            <a:ext cx="4192845" cy="685800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dirty="0" lang="zh-CN"/>
              <a:t>缓冲区溢出攻击</a:t>
            </a:r>
          </a:p>
        </p:txBody>
      </p:sp>
      <p:sp>
        <p:nvSpPr>
          <p:cNvPr id="104860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en-US" dirty="0" lang="zh-CN"/>
              <a:t>当我们读入的字串比缓冲区长的时候，就会用我们的输入覆盖</a:t>
            </a:r>
            <a:r>
              <a:rPr altLang="zh-CN" dirty="0" lang="en-US"/>
              <a:t>return address</a:t>
            </a:r>
            <a:r>
              <a:rPr altLang="en-US" dirty="0" lang="zh-CN"/>
              <a:t>，实现可控跳转（想去哪，就去哪）</a:t>
            </a:r>
            <a:endParaRPr altLang="zh-CN" dirty="0" lang="en-US"/>
          </a:p>
          <a:p>
            <a:endParaRPr altLang="en-US" dirty="0" lang="zh-CN"/>
          </a:p>
        </p:txBody>
      </p:sp>
      <p:pic>
        <p:nvPicPr>
          <p:cNvPr id="2097153" name="图片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40342" y="2934605"/>
            <a:ext cx="4521852" cy="1796352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dirty="0" lang="zh-CN"/>
              <a:t>三种可行的防护</a:t>
            </a:r>
          </a:p>
        </p:txBody>
      </p:sp>
      <p:sp>
        <p:nvSpPr>
          <p:cNvPr id="104862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zh-CN" dirty="0" lang="en-US"/>
              <a:t>PIE</a:t>
            </a:r>
            <a:r>
              <a:rPr altLang="en-US" dirty="0" lang="zh-CN"/>
              <a:t>（</a:t>
            </a:r>
            <a:r>
              <a:rPr altLang="zh-CN" dirty="0" lang="en-US"/>
              <a:t>position-independent executable</a:t>
            </a:r>
            <a:r>
              <a:rPr altLang="en-US" dirty="0" lang="zh-CN"/>
              <a:t>）：栈地址（确切来说是栈基址）每次运行均不相同。</a:t>
            </a:r>
            <a:endParaRPr altLang="zh-CN" dirty="0" lang="en-US"/>
          </a:p>
          <a:p>
            <a:r>
              <a:rPr altLang="zh-CN" dirty="0" lang="en-US"/>
              <a:t>NX </a:t>
            </a:r>
            <a:r>
              <a:rPr altLang="en-US" dirty="0" lang="zh-CN"/>
              <a:t>（</a:t>
            </a:r>
            <a:r>
              <a:rPr altLang="zh-CN" dirty="0" lang="en-US"/>
              <a:t>Not executable</a:t>
            </a:r>
            <a:r>
              <a:rPr altLang="en-US" dirty="0" lang="zh-CN"/>
              <a:t>）：栈不可执行。</a:t>
            </a:r>
            <a:endParaRPr altLang="zh-CN" dirty="0" lang="en-US"/>
          </a:p>
          <a:p>
            <a:r>
              <a:rPr altLang="zh-CN" dirty="0" lang="en-US"/>
              <a:t>Canary</a:t>
            </a:r>
            <a:r>
              <a:rPr altLang="en-US" dirty="0" lang="zh-CN"/>
              <a:t>：在</a:t>
            </a:r>
            <a:r>
              <a:rPr altLang="zh-CN" dirty="0" lang="en-US"/>
              <a:t>push</a:t>
            </a:r>
            <a:r>
              <a:rPr altLang="en-US" dirty="0" lang="zh-CN"/>
              <a:t>了被保存的寄存器之后，</a:t>
            </a:r>
            <a:r>
              <a:rPr altLang="zh-CN" dirty="0" lang="en-US"/>
              <a:t>push</a:t>
            </a:r>
            <a:r>
              <a:rPr altLang="en-US" dirty="0" lang="zh-CN"/>
              <a:t>一个</a:t>
            </a:r>
            <a:r>
              <a:rPr altLang="zh-CN" dirty="0" lang="en-US"/>
              <a:t>canary</a:t>
            </a:r>
            <a:r>
              <a:rPr altLang="en-US" dirty="0" lang="zh-CN"/>
              <a:t>，离开时检查是否被修改。</a:t>
            </a:r>
            <a:endParaRPr altLang="zh-CN" dirty="0" lang="en-US"/>
          </a:p>
          <a:p>
            <a:endParaRPr altLang="zh-CN" dirty="0" lang="en-US"/>
          </a:p>
          <a:p>
            <a:endParaRPr altLang="zh-CN" dirty="0" lang="en-US"/>
          </a:p>
          <a:p>
            <a:endParaRPr altLang="zh-CN" dirty="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dirty="0" lang="zh-CN"/>
              <a:t>可能的绕过保护的手段</a:t>
            </a:r>
          </a:p>
        </p:txBody>
      </p:sp>
      <p:sp>
        <p:nvSpPr>
          <p:cNvPr id="1048623" name="内容占位符 2"/>
          <p:cNvSpPr>
            <a:spLocks noGrp="1"/>
          </p:cNvSpPr>
          <p:nvPr>
            <p:ph idx="1"/>
          </p:nvPr>
        </p:nvSpPr>
        <p:spPr>
          <a:xfrm>
            <a:off x="838200" y="1812925"/>
            <a:ext cx="10515600" cy="4351338"/>
          </a:xfrm>
        </p:spPr>
        <p:txBody>
          <a:bodyPr/>
          <a:p>
            <a:r>
              <a:rPr altLang="zh-CN" dirty="0" lang="en-US" err="1"/>
              <a:t>ROP:Return-oriented</a:t>
            </a:r>
            <a:r>
              <a:rPr altLang="zh-CN" dirty="0" lang="en-US"/>
              <a:t> Programming</a:t>
            </a:r>
          </a:p>
          <a:p>
            <a:r>
              <a:rPr altLang="en-US" dirty="0" lang="zh-CN"/>
              <a:t>稍后来讲</a:t>
            </a:r>
            <a:endParaRPr altLang="zh-CN" dirty="0" lang="en-US"/>
          </a:p>
          <a:p>
            <a:endParaRPr altLang="zh-CN" dirty="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标题 1"/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1352550"/>
          </a:xfrm>
        </p:spPr>
        <p:txBody>
          <a:bodyPr/>
          <a:p>
            <a:r>
              <a:rPr altLang="en-US" dirty="0" lang="zh-CN"/>
              <a:t>各</a:t>
            </a:r>
            <a:r>
              <a:rPr altLang="zh-CN" dirty="0" lang="en-US"/>
              <a:t>level</a:t>
            </a:r>
            <a:r>
              <a:rPr altLang="en-US" dirty="0" lang="zh-CN"/>
              <a:t>详解</a:t>
            </a:r>
          </a:p>
        </p:txBody>
      </p:sp>
      <p:sp>
        <p:nvSpPr>
          <p:cNvPr id="1048628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dirty="0" lang="zh-CN"/>
              <a:t>漏洞所在函数</a:t>
            </a:r>
          </a:p>
        </p:txBody>
      </p:sp>
      <p:pic>
        <p:nvPicPr>
          <p:cNvPr id="2097158" name="图片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38199" y="4197802"/>
            <a:ext cx="9268621" cy="2099303"/>
          </a:xfrm>
          <a:prstGeom prst="rect"/>
        </p:spPr>
      </p:pic>
      <p:pic>
        <p:nvPicPr>
          <p:cNvPr id="2097159" name="图片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38199" y="1832678"/>
            <a:ext cx="4833105" cy="2091747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dirty="0" lang="zh-CN"/>
              <a:t>总览</a:t>
            </a:r>
          </a:p>
        </p:txBody>
      </p:sp>
      <p:sp>
        <p:nvSpPr>
          <p:cNvPr id="104863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zh-CN" dirty="0" lang="en-US"/>
              <a:t>Level 1-3</a:t>
            </a:r>
            <a:r>
              <a:rPr altLang="en-US" dirty="0" lang="zh-CN"/>
              <a:t>：</a:t>
            </a:r>
            <a:r>
              <a:rPr altLang="zh-CN" dirty="0" lang="en-US" err="1">
                <a:solidFill>
                  <a:srgbClr val="FF0000"/>
                </a:solidFill>
              </a:rPr>
              <a:t>ctarget</a:t>
            </a:r>
            <a:r>
              <a:rPr altLang="en-US" dirty="0" lang="zh-CN"/>
              <a:t>，没有开保护，可自己写可执行代码</a:t>
            </a:r>
            <a:endParaRPr altLang="zh-CN" dirty="0" lang="en-US"/>
          </a:p>
          <a:p>
            <a:r>
              <a:rPr altLang="zh-CN" dirty="0" lang="en-US"/>
              <a:t>Level 4-5</a:t>
            </a:r>
            <a:r>
              <a:rPr altLang="en-US" dirty="0" lang="zh-CN"/>
              <a:t>：</a:t>
            </a:r>
            <a:r>
              <a:rPr altLang="zh-CN" dirty="0" lang="en-US" err="1">
                <a:solidFill>
                  <a:srgbClr val="FF0000"/>
                </a:solidFill>
              </a:rPr>
              <a:t>rtarget</a:t>
            </a:r>
            <a:r>
              <a:rPr altLang="en-US" dirty="0" lang="zh-CN"/>
              <a:t>，开了保护，使用</a:t>
            </a:r>
            <a:r>
              <a:rPr altLang="zh-CN" dirty="0" lang="en-US"/>
              <a:t>ROP</a:t>
            </a:r>
            <a:r>
              <a:rPr altLang="en-US" dirty="0" lang="zh-CN"/>
              <a:t>来实现注入</a:t>
            </a:r>
            <a:endParaRPr altLang="zh-CN" dirty="0" lang="en-US"/>
          </a:p>
          <a:p>
            <a:r>
              <a:rPr altLang="zh-CN" dirty="0" lang="en-US"/>
              <a:t>hex2raw</a:t>
            </a:r>
            <a:r>
              <a:rPr altLang="en-US" dirty="0" lang="zh-CN"/>
              <a:t>：辅助工具</a:t>
            </a:r>
            <a:endParaRPr altLang="zh-CN" dirty="0" lang="en-US"/>
          </a:p>
          <a:p>
            <a:r>
              <a:rPr altLang="zh-CN" dirty="0" lang="en-US" err="1"/>
              <a:t>farm.c</a:t>
            </a:r>
            <a:r>
              <a:rPr altLang="en-US" dirty="0" lang="zh-CN"/>
              <a:t>：</a:t>
            </a:r>
            <a:r>
              <a:rPr altLang="zh-CN" dirty="0" lang="en-US"/>
              <a:t>ROP gadget</a:t>
            </a:r>
            <a:r>
              <a:rPr altLang="en-US" dirty="0" lang="zh-CN"/>
              <a:t>来源的源代码</a:t>
            </a:r>
            <a:endParaRPr altLang="zh-CN" dirty="0" lang="en-US"/>
          </a:p>
          <a:p>
            <a:r>
              <a:rPr altLang="zh-CN" dirty="0" lang="en-US"/>
              <a:t>cookie.txt</a:t>
            </a:r>
            <a:r>
              <a:rPr altLang="en-US" dirty="0" lang="zh-CN"/>
              <a:t>：记录了你需要修改成的</a:t>
            </a:r>
            <a:r>
              <a:rPr altLang="zh-CN" dirty="0" lang="en-US"/>
              <a:t>cookie</a:t>
            </a:r>
          </a:p>
          <a:p>
            <a:r>
              <a:rPr altLang="en-US" dirty="0" lang="zh-CN"/>
              <a:t>另附：常用汇编指令同机器码的对应</a:t>
            </a:r>
            <a:endParaRPr altLang="zh-CN" dirty="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Hex2raw</a:t>
            </a:r>
            <a:endParaRPr altLang="en-US" dirty="0" lang="zh-CN"/>
          </a:p>
        </p:txBody>
      </p:sp>
      <p:sp>
        <p:nvSpPr>
          <p:cNvPr id="104863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8075"/>
          </a:xfrm>
        </p:spPr>
        <p:txBody>
          <a:bodyPr>
            <a:normAutofit fontScale="95833" lnSpcReduction="10000"/>
          </a:bodyPr>
          <a:p>
            <a:r>
              <a:rPr altLang="en-US" dirty="0" lang="zh-CN"/>
              <a:t>本实验的输入应该是一个字符串，</a:t>
            </a:r>
            <a:r>
              <a:rPr altLang="zh-CN" dirty="0" lang="en-US"/>
              <a:t>hex2raw</a:t>
            </a:r>
            <a:r>
              <a:rPr altLang="en-US" dirty="0" lang="zh-CN"/>
              <a:t>则是一个构造该字符串的工具：输入是以空格隔开的两位一组（建议八组一行。想想为什么？）的十六进制数（不含</a:t>
            </a:r>
            <a:r>
              <a:rPr altLang="zh-CN" dirty="0" lang="en-US"/>
              <a:t>0x)</a:t>
            </a:r>
            <a:r>
              <a:rPr altLang="en-US" dirty="0" lang="zh-CN"/>
              <a:t>。优点：便于修改，可包含不可见字符</a:t>
            </a:r>
            <a:endParaRPr altLang="zh-CN" dirty="0" lang="en-US"/>
          </a:p>
          <a:p>
            <a:r>
              <a:rPr altLang="en-US" dirty="0" lang="zh-CN"/>
              <a:t>如</a:t>
            </a:r>
            <a:r>
              <a:rPr altLang="zh-CN" dirty="0" lang="en-US"/>
              <a:t>hello</a:t>
            </a:r>
            <a:r>
              <a:rPr altLang="en-US" dirty="0" lang="zh-CN"/>
              <a:t>则对应的是：“</a:t>
            </a:r>
            <a:r>
              <a:rPr altLang="zh-CN" dirty="0" lang="en-US"/>
              <a:t>68 65 6c </a:t>
            </a:r>
            <a:r>
              <a:rPr altLang="zh-CN" dirty="0" lang="en-US" err="1"/>
              <a:t>6c</a:t>
            </a:r>
            <a:r>
              <a:rPr altLang="zh-CN" dirty="0" lang="en-US"/>
              <a:t> 6f</a:t>
            </a:r>
            <a:r>
              <a:rPr altLang="en-US" dirty="0" lang="zh-CN"/>
              <a:t>”</a:t>
            </a:r>
            <a:endParaRPr altLang="zh-CN" dirty="0" lang="en-US"/>
          </a:p>
          <a:p>
            <a:r>
              <a:rPr altLang="en-US" dirty="0" lang="zh-CN"/>
              <a:t>生成二进制文件：</a:t>
            </a:r>
            <a:r>
              <a:rPr altLang="zh-CN" dirty="0" lang="en-US"/>
              <a:t>./hex2raw &lt; exploit.txt &gt; exploit_raw.txt</a:t>
            </a:r>
          </a:p>
          <a:p>
            <a:r>
              <a:rPr altLang="en-US" dirty="0" lang="zh-CN"/>
              <a:t>运行：</a:t>
            </a:r>
            <a:r>
              <a:rPr altLang="zh-CN" dirty="0" lang="en-US"/>
              <a:t>./</a:t>
            </a:r>
            <a:r>
              <a:rPr altLang="zh-CN" dirty="0" lang="en-US" err="1"/>
              <a:t>ctarget</a:t>
            </a:r>
            <a:r>
              <a:rPr altLang="zh-CN" dirty="0" lang="en-US"/>
              <a:t> </a:t>
            </a:r>
            <a:r>
              <a:rPr altLang="zh-CN" dirty="0" lang="en-US">
                <a:solidFill>
                  <a:srgbClr val="FF0000"/>
                </a:solidFill>
              </a:rPr>
              <a:t>–q </a:t>
            </a:r>
            <a:r>
              <a:rPr altLang="zh-CN" dirty="0" lang="en-US"/>
              <a:t>&lt; </a:t>
            </a:r>
            <a:r>
              <a:rPr altLang="zh-CN" dirty="0" lang="en-US" err="1"/>
              <a:t>exploit_raw.txt</a:t>
            </a:r>
            <a:endParaRPr altLang="zh-CN" dirty="0" lang="en-US"/>
          </a:p>
          <a:p>
            <a:pPr lvl="1"/>
            <a:r>
              <a:rPr altLang="en-US" dirty="0" lang="zh-CN"/>
              <a:t>也有可能是</a:t>
            </a:r>
            <a:r>
              <a:rPr altLang="zh-CN" dirty="0" lang="en-US" err="1"/>
              <a:t>rtarget</a:t>
            </a:r>
            <a:endParaRPr altLang="zh-CN" dirty="0" lang="en-US"/>
          </a:p>
          <a:p>
            <a:r>
              <a:rPr altLang="en-US" dirty="0" lang="zh-CN"/>
              <a:t>生成并运行：</a:t>
            </a:r>
            <a:r>
              <a:rPr altLang="zh-CN" dirty="0" lang="en-US"/>
              <a:t>cat exploit.txt | ./hex2raw | ./</a:t>
            </a:r>
            <a:r>
              <a:rPr altLang="zh-CN" dirty="0" lang="en-US" err="1"/>
              <a:t>ctarget</a:t>
            </a:r>
            <a:r>
              <a:rPr altLang="zh-CN" dirty="0" lang="en-US"/>
              <a:t> –q</a:t>
            </a:r>
          </a:p>
          <a:p>
            <a:r>
              <a:rPr altLang="en-US" dirty="0" lang="zh-CN"/>
              <a:t>前者的好处是，方便使用</a:t>
            </a:r>
            <a:r>
              <a:rPr altLang="zh-CN" dirty="0" lang="en-US" err="1"/>
              <a:t>gdb</a:t>
            </a:r>
            <a:r>
              <a:rPr altLang="en-US" dirty="0" lang="zh-CN"/>
              <a:t>调试</a:t>
            </a:r>
            <a:endParaRPr altLang="zh-CN" dirty="0" lang="en-US"/>
          </a:p>
          <a:p>
            <a:r>
              <a:rPr altLang="en-US" dirty="0" lang="zh-CN">
                <a:solidFill>
                  <a:srgbClr val="FF0000"/>
                </a:solidFill>
              </a:rPr>
              <a:t>更详细使用说明，请查看</a:t>
            </a:r>
            <a:r>
              <a:rPr altLang="zh-CN" dirty="0" lang="en-US">
                <a:solidFill>
                  <a:srgbClr val="FF0000"/>
                </a:solidFill>
              </a:rPr>
              <a:t>attacklab.pdf</a:t>
            </a:r>
            <a:r>
              <a:rPr altLang="en-US" dirty="0" lang="zh-CN">
                <a:solidFill>
                  <a:srgbClr val="FF0000"/>
                </a:solidFill>
              </a:rPr>
              <a:t>的</a:t>
            </a:r>
            <a:r>
              <a:rPr altLang="zh-CN" dirty="0" lang="en-US">
                <a:solidFill>
                  <a:srgbClr val="FF0000"/>
                </a:solidFill>
              </a:rPr>
              <a:t>Appendix 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dirty="0" lang="zh-CN"/>
              <a:t>漏洞所在函数</a:t>
            </a:r>
          </a:p>
        </p:txBody>
      </p:sp>
      <p:pic>
        <p:nvPicPr>
          <p:cNvPr id="2097160" name="图片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38199" y="4197802"/>
            <a:ext cx="9268621" cy="2099303"/>
          </a:xfrm>
          <a:prstGeom prst="rect"/>
        </p:spPr>
      </p:pic>
      <p:pic>
        <p:nvPicPr>
          <p:cNvPr id="2097161" name="图片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38199" y="1832678"/>
            <a:ext cx="4833105" cy="2091747"/>
          </a:xfrm>
          <a:prstGeom prst="rect"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 err="1"/>
              <a:t>ctarget</a:t>
            </a:r>
            <a:r>
              <a:rPr altLang="zh-CN" dirty="0" lang="en-US"/>
              <a:t>-Level 1</a:t>
            </a:r>
            <a:endParaRPr altLang="en-US" dirty="0" lang="zh-CN"/>
          </a:p>
        </p:txBody>
      </p:sp>
      <p:pic>
        <p:nvPicPr>
          <p:cNvPr id="2097162" name="内容占位符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40826" y="2286655"/>
            <a:ext cx="10689818" cy="2755245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Hint for level 1</a:t>
            </a:r>
            <a:endParaRPr altLang="en-US" dirty="0" lang="zh-CN"/>
          </a:p>
        </p:txBody>
      </p:sp>
      <p:sp>
        <p:nvSpPr>
          <p:cNvPr id="1048637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en-US" dirty="0" lang="zh-CN"/>
              <a:t>同样可以反汇编来看看汇编代码，确定缓冲区大小</a:t>
            </a:r>
            <a:r>
              <a:rPr altLang="zh-CN" dirty="0" lang="en-US"/>
              <a:t>,</a:t>
            </a:r>
            <a:r>
              <a:rPr altLang="en-US" dirty="0" lang="zh-CN"/>
              <a:t>确定相对位置等信息（是否保存了某些寄存器）</a:t>
            </a:r>
            <a:endParaRPr altLang="zh-CN" dirty="0" lang="en-US"/>
          </a:p>
          <a:p>
            <a:r>
              <a:rPr altLang="en-US" dirty="0" lang="zh-CN"/>
              <a:t>小心字节顺序：小端法</a:t>
            </a:r>
            <a:endParaRPr altLang="zh-CN" dirty="0" lang="en-US"/>
          </a:p>
          <a:p>
            <a:r>
              <a:rPr altLang="en-US" dirty="0" lang="zh-CN"/>
              <a:t>你可以使用</a:t>
            </a:r>
            <a:r>
              <a:rPr altLang="zh-CN" dirty="0" lang="en-US" err="1"/>
              <a:t>gdb</a:t>
            </a:r>
            <a:r>
              <a:rPr altLang="en-US" dirty="0" lang="zh-CN"/>
              <a:t>来验证的缓冲区溢出是否正确</a:t>
            </a:r>
            <a:endParaRPr altLang="zh-CN" dirty="0" lang="en-US"/>
          </a:p>
          <a:p>
            <a:endParaRPr altLang="en-US" dirty="0" 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 err="1"/>
              <a:t>ctarget</a:t>
            </a:r>
            <a:r>
              <a:rPr altLang="zh-CN" dirty="0" lang="en-US"/>
              <a:t>-Level 2</a:t>
            </a:r>
            <a:endParaRPr altLang="en-US" dirty="0" lang="zh-CN"/>
          </a:p>
        </p:txBody>
      </p:sp>
      <p:pic>
        <p:nvPicPr>
          <p:cNvPr id="2097163" name="内容占位符 11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15074" y="1690688"/>
            <a:ext cx="10538726" cy="4291012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Hint </a:t>
            </a:r>
            <a:r>
              <a:rPr altLang="zh-CN" lang="en-US"/>
              <a:t>for Level2</a:t>
            </a:r>
            <a:endParaRPr altLang="en-US" dirty="0" lang="zh-CN"/>
          </a:p>
        </p:txBody>
      </p:sp>
      <p:sp>
        <p:nvSpPr>
          <p:cNvPr id="104864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en-US" dirty="0" lang="zh-CN"/>
              <a:t>第一个传参是在寄存器</a:t>
            </a:r>
            <a:r>
              <a:rPr altLang="zh-CN" dirty="0" lang="en-US" err="1"/>
              <a:t>rdi</a:t>
            </a:r>
            <a:r>
              <a:rPr altLang="en-US" dirty="0" lang="zh-CN"/>
              <a:t>里面的。</a:t>
            </a:r>
            <a:endParaRPr altLang="zh-CN" dirty="0" lang="en-US"/>
          </a:p>
          <a:p>
            <a:r>
              <a:rPr altLang="en-US" dirty="0" lang="zh-CN"/>
              <a:t>可以自己构造一段可执行的代码放到缓冲区里面，跳转到自己构造的可执行代码中来修改</a:t>
            </a:r>
            <a:r>
              <a:rPr altLang="zh-CN" dirty="0" lang="en-US" err="1"/>
              <a:t>rdi</a:t>
            </a:r>
            <a:r>
              <a:rPr altLang="en-US" dirty="0" lang="zh-CN"/>
              <a:t>。</a:t>
            </a:r>
            <a:endParaRPr altLang="zh-CN" dirty="0" lang="en-US"/>
          </a:p>
          <a:p>
            <a:r>
              <a:rPr altLang="en-US" dirty="0" lang="zh-CN"/>
              <a:t>可考虑使用</a:t>
            </a:r>
            <a:r>
              <a:rPr altLang="zh-CN" dirty="0" lang="en-US"/>
              <a:t>ret</a:t>
            </a:r>
            <a:r>
              <a:rPr altLang="en-US" dirty="0" lang="zh-CN"/>
              <a:t>来跳转到</a:t>
            </a:r>
            <a:r>
              <a:rPr altLang="zh-CN" dirty="0" lang="en-US"/>
              <a:t>touch2</a:t>
            </a:r>
            <a:r>
              <a:rPr altLang="en-US" dirty="0" lang="zh-CN"/>
              <a:t>，（该</a:t>
            </a:r>
            <a:r>
              <a:rPr altLang="zh-CN" dirty="0" lang="en-US"/>
              <a:t>ret</a:t>
            </a:r>
            <a:r>
              <a:rPr altLang="en-US" dirty="0" lang="zh-CN"/>
              <a:t>同样可控，对吗？）</a:t>
            </a:r>
            <a:endParaRPr altLang="zh-CN" dirty="0" lang="en-US"/>
          </a:p>
          <a:p>
            <a:r>
              <a:rPr altLang="en-US" dirty="0" lang="zh-CN"/>
              <a:t>不推荐使用</a:t>
            </a:r>
            <a:r>
              <a:rPr altLang="zh-CN" dirty="0" lang="en-US" err="1"/>
              <a:t>jmp</a:t>
            </a:r>
            <a:r>
              <a:rPr altLang="en-US" dirty="0" lang="zh-CN"/>
              <a:t>和</a:t>
            </a:r>
            <a:r>
              <a:rPr altLang="zh-CN" dirty="0" lang="en-US"/>
              <a:t>call</a:t>
            </a:r>
            <a:r>
              <a:rPr altLang="en-US" dirty="0" lang="zh-CN"/>
              <a:t>，因为它们是偏移量寻址，非常麻烦，极难控制。</a:t>
            </a:r>
            <a:endParaRPr altLang="zh-CN" dirty="0" lang="en-US"/>
          </a:p>
          <a:p>
            <a:r>
              <a:rPr altLang="en-US" dirty="0" lang="zh-CN"/>
              <a:t>获得某汇编对应的机器码（十六进制表示）的方法如下：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dirty="0" lang="zh-CN"/>
              <a:t>编译汇编以及获得机器码</a:t>
            </a:r>
          </a:p>
        </p:txBody>
      </p:sp>
      <p:sp>
        <p:nvSpPr>
          <p:cNvPr id="1048645" name="内容占位符 2"/>
          <p:cNvSpPr>
            <a:spLocks noGrp="1"/>
          </p:cNvSpPr>
          <p:nvPr>
            <p:ph idx="1"/>
          </p:nvPr>
        </p:nvSpPr>
        <p:spPr>
          <a:xfrm>
            <a:off x="838200" y="2830776"/>
            <a:ext cx="10515600" cy="4351338"/>
          </a:xfrm>
        </p:spPr>
        <p:txBody>
          <a:bodyPr/>
          <a:p>
            <a:r>
              <a:rPr altLang="zh-CN" dirty="0" lang="en-US" err="1"/>
              <a:t>gcc</a:t>
            </a:r>
            <a:r>
              <a:rPr altLang="zh-CN" dirty="0" lang="en-US"/>
              <a:t> –c </a:t>
            </a:r>
            <a:r>
              <a:rPr altLang="zh-CN" dirty="0" lang="en-US" err="1"/>
              <a:t>example.s</a:t>
            </a:r>
            <a:endParaRPr altLang="zh-CN" dirty="0" lang="en-US"/>
          </a:p>
          <a:p>
            <a:r>
              <a:rPr altLang="zh-CN" dirty="0" lang="en-US" err="1"/>
              <a:t>objdump</a:t>
            </a:r>
            <a:r>
              <a:rPr altLang="zh-CN" dirty="0" lang="en-US"/>
              <a:t> –d </a:t>
            </a:r>
            <a:r>
              <a:rPr altLang="zh-CN" dirty="0" lang="en-US" err="1"/>
              <a:t>example.o</a:t>
            </a:r>
            <a:r>
              <a:rPr altLang="zh-CN" dirty="0" lang="en-US"/>
              <a:t> &gt;</a:t>
            </a:r>
            <a:r>
              <a:rPr altLang="zh-CN" dirty="0" lang="en-US" err="1"/>
              <a:t>example.d</a:t>
            </a:r>
            <a:endParaRPr altLang="zh-CN" dirty="0" lang="en-US"/>
          </a:p>
          <a:p>
            <a:endParaRPr altLang="en-US" dirty="0" lang="zh-CN"/>
          </a:p>
        </p:txBody>
      </p:sp>
      <p:pic>
        <p:nvPicPr>
          <p:cNvPr id="2097164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38200" y="1659037"/>
            <a:ext cx="7849695" cy="1171739"/>
          </a:xfrm>
          <a:prstGeom prst="rect"/>
        </p:spPr>
      </p:pic>
      <p:pic>
        <p:nvPicPr>
          <p:cNvPr id="2097165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838200" y="3882661"/>
            <a:ext cx="5877745" cy="2610214"/>
          </a:xfrm>
          <a:prstGeom prst="rect"/>
        </p:spPr>
      </p:pic>
      <p:pic>
        <p:nvPicPr>
          <p:cNvPr id="2097166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7689236" y="5198963"/>
            <a:ext cx="4401164" cy="600159"/>
          </a:xfrm>
          <a:prstGeom prst="rect"/>
        </p:spPr>
      </p:pic>
      <p:sp>
        <p:nvSpPr>
          <p:cNvPr id="1048646" name="箭头: 右 13"/>
          <p:cNvSpPr/>
          <p:nvPr/>
        </p:nvSpPr>
        <p:spPr>
          <a:xfrm>
            <a:off x="6834290" y="5187768"/>
            <a:ext cx="557110" cy="768532"/>
          </a:xfrm>
          <a:prstGeom prst="righ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标题 1"/>
          <p:cNvSpPr>
            <a:spLocks noGrp="1"/>
          </p:cNvSpPr>
          <p:nvPr>
            <p:ph type="title"/>
          </p:nvPr>
        </p:nvSpPr>
        <p:spPr>
          <a:xfrm>
            <a:off x="838200" y="151943"/>
            <a:ext cx="10515600" cy="1325563"/>
          </a:xfrm>
        </p:spPr>
        <p:txBody>
          <a:bodyPr/>
          <a:p>
            <a:r>
              <a:rPr altLang="zh-CN" dirty="0" lang="en-US" err="1"/>
              <a:t>ctarget</a:t>
            </a:r>
            <a:r>
              <a:rPr altLang="zh-CN" dirty="0" lang="en-US"/>
              <a:t>-Level 3</a:t>
            </a:r>
            <a:endParaRPr altLang="en-US" dirty="0" lang="zh-CN"/>
          </a:p>
        </p:txBody>
      </p:sp>
      <p:pic>
        <p:nvPicPr>
          <p:cNvPr id="2097167" name="内容占位符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38200" y="1352723"/>
            <a:ext cx="7849695" cy="2353003"/>
          </a:xfrm>
        </p:spPr>
      </p:pic>
      <p:pic>
        <p:nvPicPr>
          <p:cNvPr id="2097168" name="图片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38200" y="3580943"/>
            <a:ext cx="7897327" cy="3277057"/>
          </a:xfrm>
          <a:prstGeom prst="rect"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Hint </a:t>
            </a:r>
            <a:r>
              <a:rPr altLang="zh-CN" lang="en-US"/>
              <a:t>for Level3</a:t>
            </a:r>
            <a:endParaRPr altLang="en-US" dirty="0" lang="zh-CN"/>
          </a:p>
        </p:txBody>
      </p:sp>
      <p:sp>
        <p:nvSpPr>
          <p:cNvPr id="104864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zh-CN" dirty="0" lang="en-US"/>
              <a:t> </a:t>
            </a:r>
            <a:r>
              <a:rPr altLang="en-US" dirty="0" lang="zh-CN"/>
              <a:t>你需要在栈上构造一个字符串和</a:t>
            </a:r>
            <a:r>
              <a:rPr altLang="zh-CN" dirty="0" lang="en-US"/>
              <a:t>cookies</a:t>
            </a:r>
            <a:r>
              <a:rPr altLang="en-US" dirty="0" lang="zh-CN"/>
              <a:t>相同，每个字符恰好一个</a:t>
            </a:r>
            <a:r>
              <a:rPr altLang="zh-CN" dirty="0" lang="en-US"/>
              <a:t>byte</a:t>
            </a:r>
          </a:p>
          <a:p>
            <a:r>
              <a:rPr altLang="en-US" dirty="0" lang="zh-CN"/>
              <a:t>可使用</a:t>
            </a:r>
            <a:r>
              <a:rPr altLang="zh-CN" dirty="0" lang="en-US"/>
              <a:t>man ascii</a:t>
            </a:r>
            <a:r>
              <a:rPr altLang="en-US" dirty="0" lang="zh-CN"/>
              <a:t>来获得字符的表示</a:t>
            </a:r>
            <a:endParaRPr altLang="zh-CN" dirty="0" lang="en-US"/>
          </a:p>
          <a:p>
            <a:r>
              <a:rPr altLang="en-US" dirty="0" lang="zh-CN"/>
              <a:t>请注意该字符串在栈上的摆放位置，以避免被</a:t>
            </a:r>
            <a:r>
              <a:rPr altLang="zh-CN" dirty="0" lang="en-US"/>
              <a:t>push XXX</a:t>
            </a:r>
            <a:r>
              <a:rPr altLang="en-US" dirty="0" lang="zh-CN"/>
              <a:t>覆盖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rtarget-level2</a:t>
            </a:r>
            <a:endParaRPr altLang="en-US" dirty="0" lang="zh-CN"/>
          </a:p>
        </p:txBody>
      </p:sp>
      <p:sp>
        <p:nvSpPr>
          <p:cNvPr id="104865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en-US" dirty="0" lang="zh-CN"/>
              <a:t>和</a:t>
            </a:r>
            <a:r>
              <a:rPr altLang="zh-CN" dirty="0" lang="en-US" err="1"/>
              <a:t>ctarget</a:t>
            </a:r>
            <a:r>
              <a:rPr altLang="en-US" dirty="0" lang="zh-CN"/>
              <a:t>里的</a:t>
            </a:r>
            <a:r>
              <a:rPr altLang="zh-CN" dirty="0" lang="en-US"/>
              <a:t>level2</a:t>
            </a:r>
            <a:r>
              <a:rPr altLang="en-US" dirty="0" lang="zh-CN"/>
              <a:t>的区别在于开了保护，但多了</a:t>
            </a:r>
            <a:r>
              <a:rPr altLang="zh-CN" dirty="0" lang="en-US"/>
              <a:t>gadget farm</a:t>
            </a:r>
            <a:endParaRPr altLang="en-US" dirty="0" 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 err="1"/>
              <a:t>rtarget</a:t>
            </a:r>
            <a:r>
              <a:rPr altLang="en-US" dirty="0" lang="zh-CN"/>
              <a:t>里的</a:t>
            </a:r>
            <a:r>
              <a:rPr altLang="zh-CN" dirty="0" lang="en-US"/>
              <a:t>level3</a:t>
            </a:r>
          </a:p>
        </p:txBody>
      </p:sp>
      <p:sp>
        <p:nvSpPr>
          <p:cNvPr id="104865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zh-CN" dirty="0" lang="en-US" err="1"/>
              <a:t>rtarget</a:t>
            </a:r>
            <a:r>
              <a:rPr altLang="en-US" dirty="0" lang="zh-CN"/>
              <a:t>里的</a:t>
            </a:r>
            <a:r>
              <a:rPr altLang="zh-CN" dirty="0" lang="en-US"/>
              <a:t>level3</a:t>
            </a:r>
          </a:p>
          <a:p>
            <a:r>
              <a:rPr altLang="en-US" dirty="0" lang="zh-CN"/>
              <a:t>和</a:t>
            </a:r>
            <a:r>
              <a:rPr altLang="zh-CN" dirty="0" lang="en-US" err="1"/>
              <a:t>ctarget</a:t>
            </a:r>
            <a:r>
              <a:rPr altLang="en-US" dirty="0" lang="zh-CN"/>
              <a:t>里的</a:t>
            </a:r>
            <a:r>
              <a:rPr altLang="zh-CN" dirty="0" lang="en-US"/>
              <a:t>level3</a:t>
            </a:r>
            <a:r>
              <a:rPr altLang="en-US" dirty="0" lang="zh-CN"/>
              <a:t>的区别在于开了保护，但多了</a:t>
            </a:r>
            <a:r>
              <a:rPr altLang="zh-CN" dirty="0" lang="en-US"/>
              <a:t>gadget farm</a:t>
            </a:r>
            <a:endParaRPr altLang="en-US" dirty="0" 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ROP</a:t>
            </a:r>
            <a:endParaRPr altLang="en-US" dirty="0" lang="zh-CN"/>
          </a:p>
        </p:txBody>
      </p:sp>
      <p:sp>
        <p:nvSpPr>
          <p:cNvPr id="1048655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zh-CN" dirty="0" lang="en-US" err="1"/>
              <a:t>rtarget</a:t>
            </a:r>
            <a:r>
              <a:rPr altLang="en-US" dirty="0" lang="zh-CN"/>
              <a:t>开了栈随机化和栈不可执行，我们没办法确定栈上代码的位置，也无法在栈上运行。</a:t>
            </a:r>
            <a:endParaRPr altLang="zh-CN" dirty="0" lang="en-US"/>
          </a:p>
          <a:p>
            <a:r>
              <a:rPr altLang="en-US" dirty="0" lang="zh-CN"/>
              <a:t>此时可运行的就只有源程序的代码段（</a:t>
            </a:r>
            <a:r>
              <a:rPr altLang="zh-CN" dirty="0" lang="en-US"/>
              <a:t>.text</a:t>
            </a:r>
            <a:r>
              <a:rPr altLang="en-US" dirty="0" lang="zh-CN"/>
              <a:t>）。</a:t>
            </a:r>
            <a:endParaRPr altLang="zh-CN" dirty="0" lang="en-US"/>
          </a:p>
          <a:p>
            <a:r>
              <a:rPr altLang="en-US" dirty="0" lang="zh-CN"/>
              <a:t>我们不能写新的可执行代码，但可以用原有的：</a:t>
            </a:r>
            <a:endParaRPr altLang="zh-CN" dirty="0" lang="en-US"/>
          </a:p>
          <a:p>
            <a:endParaRPr altLang="en-US" dirty="0" 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ROP</a:t>
            </a:r>
            <a:endParaRPr altLang="en-US" dirty="0" lang="zh-CN"/>
          </a:p>
        </p:txBody>
      </p:sp>
      <p:sp>
        <p:nvSpPr>
          <p:cNvPr id="104866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en-US" dirty="0" lang="zh-CN"/>
              <a:t>我们来看一个</a:t>
            </a:r>
            <a:r>
              <a:rPr altLang="zh-CN" dirty="0" lang="en-US"/>
              <a:t>C</a:t>
            </a:r>
            <a:r>
              <a:rPr altLang="en-US" dirty="0" lang="zh-CN"/>
              <a:t>代码与其对应的汇编：</a:t>
            </a:r>
            <a:endParaRPr altLang="zh-CN" dirty="0" lang="en-US"/>
          </a:p>
          <a:p>
            <a:endParaRPr altLang="en-US" dirty="0" lang="zh-CN"/>
          </a:p>
        </p:txBody>
      </p:sp>
      <p:pic>
        <p:nvPicPr>
          <p:cNvPr id="2097169" name="图片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77602" y="2301842"/>
            <a:ext cx="4859598" cy="1578437"/>
          </a:xfrm>
          <a:prstGeom prst="rect"/>
        </p:spPr>
      </p:pic>
      <p:pic>
        <p:nvPicPr>
          <p:cNvPr id="2097170" name="图片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77602" y="3916174"/>
            <a:ext cx="11260398" cy="1563579"/>
          </a:xfrm>
          <a:prstGeom prst="rect"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ROP</a:t>
            </a:r>
            <a:endParaRPr altLang="en-US" dirty="0" lang="zh-CN"/>
          </a:p>
        </p:txBody>
      </p:sp>
      <p:sp>
        <p:nvSpPr>
          <p:cNvPr id="10486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en-US" dirty="0" lang="zh-CN"/>
              <a:t>注意到</a:t>
            </a:r>
            <a:r>
              <a:rPr altLang="zh-CN" dirty="0" lang="en-US"/>
              <a:t>48 89 c7</a:t>
            </a:r>
            <a:r>
              <a:rPr altLang="en-US" dirty="0" lang="zh-CN"/>
              <a:t>也对应一个汇编指令：</a:t>
            </a:r>
            <a:r>
              <a:rPr altLang="zh-CN" dirty="0" lang="en-US" err="1"/>
              <a:t>movq</a:t>
            </a:r>
            <a:r>
              <a:rPr altLang="zh-CN" dirty="0" lang="en-US"/>
              <a:t> %</a:t>
            </a:r>
            <a:r>
              <a:rPr altLang="zh-CN" dirty="0" lang="en-US" err="1"/>
              <a:t>rax</a:t>
            </a:r>
            <a:r>
              <a:rPr altLang="zh-CN" dirty="0" lang="en-US"/>
              <a:t>, %</a:t>
            </a:r>
            <a:r>
              <a:rPr altLang="zh-CN" dirty="0" lang="en-US" err="1"/>
              <a:t>rdi</a:t>
            </a:r>
            <a:endParaRPr altLang="zh-CN" dirty="0" lang="en-US"/>
          </a:p>
          <a:p>
            <a:r>
              <a:rPr altLang="en-US" dirty="0" lang="zh-CN"/>
              <a:t>那么</a:t>
            </a:r>
            <a:r>
              <a:rPr altLang="zh-CN" dirty="0" lang="en-US"/>
              <a:t>48 89 c7 c3</a:t>
            </a:r>
            <a:r>
              <a:rPr altLang="en-US" dirty="0" lang="zh-CN"/>
              <a:t>就对应 </a:t>
            </a:r>
            <a:r>
              <a:rPr altLang="zh-CN" dirty="0" lang="en-US" err="1"/>
              <a:t>movq</a:t>
            </a:r>
            <a:r>
              <a:rPr altLang="zh-CN" dirty="0" lang="en-US"/>
              <a:t> %</a:t>
            </a:r>
            <a:r>
              <a:rPr altLang="zh-CN" dirty="0" lang="en-US" err="1"/>
              <a:t>rax</a:t>
            </a:r>
            <a:r>
              <a:rPr altLang="zh-CN" dirty="0" lang="en-US"/>
              <a:t>, %</a:t>
            </a:r>
            <a:r>
              <a:rPr altLang="zh-CN" dirty="0" lang="en-US" err="1"/>
              <a:t>rdi</a:t>
            </a:r>
            <a:r>
              <a:rPr altLang="zh-CN" dirty="0" lang="en-US"/>
              <a:t>    ret</a:t>
            </a:r>
          </a:p>
          <a:p>
            <a:r>
              <a:rPr altLang="en-US" dirty="0" lang="zh-CN"/>
              <a:t>那我们跳到</a:t>
            </a:r>
            <a:r>
              <a:rPr altLang="zh-CN" dirty="0" lang="en-US"/>
              <a:t>0x400f18</a:t>
            </a:r>
            <a:r>
              <a:rPr altLang="en-US" dirty="0" lang="zh-CN"/>
              <a:t>，则会执行一句把</a:t>
            </a:r>
            <a:r>
              <a:rPr altLang="zh-CN" dirty="0" lang="en-US" err="1"/>
              <a:t>rax</a:t>
            </a:r>
            <a:r>
              <a:rPr altLang="en-US" dirty="0" lang="zh-CN"/>
              <a:t>的值放到</a:t>
            </a:r>
            <a:r>
              <a:rPr altLang="zh-CN" dirty="0" lang="en-US" err="1"/>
              <a:t>rdi</a:t>
            </a:r>
            <a:r>
              <a:rPr altLang="en-US" dirty="0" lang="zh-CN"/>
              <a:t>中，然后继续返回。</a:t>
            </a:r>
            <a:endParaRPr altLang="zh-CN" dirty="0" lang="en-US"/>
          </a:p>
          <a:p>
            <a:r>
              <a:rPr altLang="zh-CN" dirty="0" lang="en-US" err="1"/>
              <a:t>Rtarget</a:t>
            </a:r>
            <a:r>
              <a:rPr altLang="en-US" dirty="0" lang="zh-CN"/>
              <a:t>中提供了很多这样的函数：代码详见</a:t>
            </a:r>
            <a:r>
              <a:rPr altLang="zh-CN" dirty="0" lang="en-US" err="1"/>
              <a:t>farm.c</a:t>
            </a:r>
            <a:r>
              <a:rPr altLang="en-US" dirty="0" lang="zh-CN"/>
              <a:t>，可自己编和反汇编译来获得机器码（前面讲过了）。</a:t>
            </a:r>
            <a:endParaRPr altLang="zh-CN" dirty="0" lang="en-US"/>
          </a:p>
        </p:txBody>
      </p:sp>
      <p:pic>
        <p:nvPicPr>
          <p:cNvPr id="2097171" name="图片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88702" y="4748321"/>
            <a:ext cx="11260398" cy="1563579"/>
          </a:xfrm>
          <a:prstGeom prst="rect"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ROP</a:t>
            </a:r>
            <a:r>
              <a:rPr altLang="en-US" dirty="0" lang="zh-CN"/>
              <a:t>链</a:t>
            </a:r>
          </a:p>
        </p:txBody>
      </p:sp>
      <p:sp>
        <p:nvSpPr>
          <p:cNvPr id="1048664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en-US" dirty="0" lang="zh-CN"/>
              <a:t>注意，第一个</a:t>
            </a:r>
            <a:r>
              <a:rPr altLang="zh-CN" dirty="0" lang="en-US"/>
              <a:t>ROP</a:t>
            </a:r>
            <a:r>
              <a:rPr altLang="en-US" dirty="0" lang="zh-CN"/>
              <a:t>的位置，已经是溢出到</a:t>
            </a:r>
            <a:r>
              <a:rPr altLang="zh-CN" dirty="0" lang="en-US"/>
              <a:t>return address</a:t>
            </a:r>
            <a:r>
              <a:rPr altLang="en-US" dirty="0" lang="zh-CN"/>
              <a:t>了，后面的</a:t>
            </a:r>
            <a:r>
              <a:rPr altLang="zh-CN" dirty="0" lang="en-US"/>
              <a:t>ROP</a:t>
            </a:r>
            <a:r>
              <a:rPr altLang="en-US" dirty="0" lang="zh-CN"/>
              <a:t>，则溢出的更多</a:t>
            </a:r>
            <a:endParaRPr altLang="zh-CN" dirty="0" lang="en-US"/>
          </a:p>
          <a:p>
            <a:endParaRPr altLang="en-US" dirty="0" lang="zh-CN"/>
          </a:p>
        </p:txBody>
      </p:sp>
      <p:pic>
        <p:nvPicPr>
          <p:cNvPr id="2097172" name="内容占位符 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l="9217" t="18888"/>
          <a:stretch>
            <a:fillRect/>
          </a:stretch>
        </p:blipFill>
        <p:spPr>
          <a:xfrm>
            <a:off x="1524000" y="3029479"/>
            <a:ext cx="6629400" cy="3282421"/>
          </a:xfrm>
          <a:prstGeom prst="rect"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ROP Hint</a:t>
            </a:r>
            <a:endParaRPr altLang="en-US" dirty="0" lang="zh-CN"/>
          </a:p>
        </p:txBody>
      </p:sp>
      <p:sp>
        <p:nvSpPr>
          <p:cNvPr id="1048666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altLang="en-US" dirty="0" lang="zh-CN"/>
              <a:t>一定是以</a:t>
            </a:r>
            <a:r>
              <a:rPr altLang="zh-CN" dirty="0" lang="en-US"/>
              <a:t>c3</a:t>
            </a:r>
            <a:r>
              <a:rPr altLang="en-US" dirty="0" lang="zh-CN"/>
              <a:t>结尾</a:t>
            </a:r>
            <a:endParaRPr altLang="zh-CN" dirty="0" lang="en-US"/>
          </a:p>
          <a:p>
            <a:r>
              <a:rPr altLang="en-US" dirty="0" lang="zh-CN"/>
              <a:t>另附常用指令与机器码的对应于</a:t>
            </a:r>
            <a:r>
              <a:rPr altLang="zh-CN" dirty="0" lang="en-US">
                <a:solidFill>
                  <a:srgbClr val="FF0000"/>
                </a:solidFill>
              </a:rPr>
              <a:t>ROP table.pdf</a:t>
            </a:r>
          </a:p>
          <a:p>
            <a:r>
              <a:rPr altLang="zh-CN" dirty="0" lang="en-US"/>
              <a:t>90 </a:t>
            </a:r>
            <a:r>
              <a:rPr altLang="en-US" dirty="0" lang="zh-CN"/>
              <a:t>对应的机器码是</a:t>
            </a:r>
            <a:r>
              <a:rPr altLang="zh-CN" dirty="0" lang="en-US" err="1"/>
              <a:t>nop</a:t>
            </a:r>
            <a:r>
              <a:rPr altLang="en-US" dirty="0" lang="zh-CN"/>
              <a:t>，相当于没有</a:t>
            </a:r>
            <a:endParaRPr altLang="zh-CN" dirty="0" lang="en-US"/>
          </a:p>
          <a:p>
            <a:r>
              <a:rPr altLang="en-US" dirty="0" lang="zh-CN"/>
              <a:t>你们的目标是修改</a:t>
            </a:r>
            <a:r>
              <a:rPr altLang="zh-CN" dirty="0" lang="en-US" err="1"/>
              <a:t>rdi</a:t>
            </a:r>
            <a:endParaRPr altLang="zh-CN" dirty="0" lang="en-US"/>
          </a:p>
          <a:p>
            <a:r>
              <a:rPr altLang="en-US" dirty="0" lang="zh-CN"/>
              <a:t>注意</a:t>
            </a:r>
            <a:r>
              <a:rPr altLang="zh-CN" dirty="0" lang="en-US"/>
              <a:t>ret</a:t>
            </a:r>
            <a:r>
              <a:rPr altLang="en-US" dirty="0" lang="zh-CN"/>
              <a:t>会使用掉一个栈顶元素，</a:t>
            </a:r>
            <a:r>
              <a:rPr altLang="zh-CN" dirty="0" lang="en-US"/>
              <a:t>pop</a:t>
            </a:r>
            <a:r>
              <a:rPr altLang="en-US" dirty="0" lang="zh-CN"/>
              <a:t>也会。</a:t>
            </a:r>
            <a:endParaRPr altLang="zh-CN" dirty="0" lang="en-US"/>
          </a:p>
          <a:p>
            <a:r>
              <a:rPr altLang="en-US" dirty="0" lang="zh-CN"/>
              <a:t>有些别的指令虽然并不是</a:t>
            </a:r>
            <a:r>
              <a:rPr altLang="zh-CN" dirty="0" lang="en-US" err="1"/>
              <a:t>nop</a:t>
            </a:r>
            <a:r>
              <a:rPr altLang="en-US" dirty="0" lang="zh-CN"/>
              <a:t>，但也在一定程度上相当于没有</a:t>
            </a:r>
            <a:endParaRPr altLang="zh-CN" dirty="0" lang="en-US"/>
          </a:p>
          <a:p>
            <a:r>
              <a:rPr altLang="en-US" dirty="0" lang="zh-CN"/>
              <a:t>有些</a:t>
            </a:r>
            <a:r>
              <a:rPr altLang="zh-CN" dirty="0" lang="en-US"/>
              <a:t>gadget farm</a:t>
            </a:r>
            <a:r>
              <a:rPr altLang="en-US" dirty="0" lang="zh-CN"/>
              <a:t>里面的</a:t>
            </a:r>
            <a:r>
              <a:rPr altLang="zh-CN" dirty="0" lang="en-US"/>
              <a:t>gadget</a:t>
            </a:r>
            <a:r>
              <a:rPr altLang="en-US" dirty="0" lang="zh-CN"/>
              <a:t>的画风和别的不太一致</a:t>
            </a:r>
            <a:endParaRPr altLang="zh-CN" dirty="0" lang="en-US"/>
          </a:p>
          <a:p>
            <a:r>
              <a:rPr altLang="en-US" dirty="0" lang="zh-CN"/>
              <a:t>如果你愿意花时间去整理有哪些可用的</a:t>
            </a:r>
            <a:r>
              <a:rPr altLang="zh-CN" dirty="0" lang="en-US"/>
              <a:t>gadget</a:t>
            </a:r>
            <a:r>
              <a:rPr altLang="en-US" dirty="0" lang="zh-CN"/>
              <a:t>，那你一定能通过这个</a:t>
            </a:r>
            <a:r>
              <a:rPr altLang="zh-CN" dirty="0" lang="en-US"/>
              <a:t>lab</a:t>
            </a:r>
          </a:p>
          <a:p>
            <a:endParaRPr altLang="en-US" dirty="0" 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标题 1"/>
          <p:cNvSpPr>
            <a:spLocks noGrp="1"/>
          </p:cNvSpPr>
          <p:nvPr>
            <p:ph type="title"/>
          </p:nvPr>
        </p:nvSpPr>
        <p:spPr>
          <a:xfrm>
            <a:off x="346075" y="400049"/>
            <a:ext cx="10515600" cy="1590675"/>
          </a:xfrm>
        </p:spPr>
        <p:txBody>
          <a:bodyPr>
            <a:normAutofit/>
          </a:bodyPr>
          <a:p>
            <a:r>
              <a:rPr altLang="zh-CN" dirty="0" lang="en-US"/>
              <a:t>Lab</a:t>
            </a:r>
            <a:r>
              <a:rPr altLang="en-US" dirty="0" lang="zh-CN"/>
              <a:t>中需要注意的地方</a:t>
            </a:r>
          </a:p>
        </p:txBody>
      </p:sp>
      <p:sp>
        <p:nvSpPr>
          <p:cNvPr id="1048671" name="标题 1"/>
          <p:cNvSpPr txBox="1"/>
          <p:nvPr/>
        </p:nvSpPr>
        <p:spPr>
          <a:xfrm>
            <a:off x="561975" y="2371726"/>
            <a:ext cx="4972050" cy="2581274"/>
          </a:xfrm>
          <a:prstGeom prst="rect"/>
        </p:spPr>
        <p:txBody>
          <a:bodyPr anchor="b" bIns="45720" lIns="91440" rIns="91440" rtlCol="0" tIns="45720" vert="horz">
            <a:normAutofit fontScale="90000" lnSpcReduction="10000"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dirty="0" sz="2800" lang="zh-CN"/>
              <a:t>你被允许跳转到的位置</a:t>
            </a:r>
            <a:br>
              <a:rPr altLang="zh-CN" dirty="0" lang="en-US"/>
            </a:br>
            <a:r>
              <a:rPr altLang="zh-CN" dirty="0" sz="2400" lang="en-US"/>
              <a:t>1. touch1,touch2,touch3</a:t>
            </a:r>
            <a:r>
              <a:rPr altLang="en-US" dirty="0" sz="2400" lang="zh-CN"/>
              <a:t>的首地址</a:t>
            </a:r>
            <a:br>
              <a:rPr altLang="zh-CN" dirty="0" sz="2400" lang="en-US"/>
            </a:br>
            <a:r>
              <a:rPr altLang="zh-CN" dirty="0" sz="2400" lang="en-US"/>
              <a:t>2. </a:t>
            </a:r>
            <a:r>
              <a:rPr altLang="en-US" dirty="0" sz="2400" lang="zh-CN"/>
              <a:t>你注入代码的任意位置</a:t>
            </a:r>
            <a:br>
              <a:rPr altLang="zh-CN" dirty="0" sz="2400" lang="en-US"/>
            </a:br>
            <a:r>
              <a:rPr altLang="zh-CN" dirty="0" sz="2400" lang="en-US"/>
              <a:t>3. Gadget farm</a:t>
            </a:r>
            <a:r>
              <a:rPr altLang="en-US" dirty="0" sz="2400" lang="zh-CN"/>
              <a:t>中的某一个</a:t>
            </a:r>
            <a:r>
              <a:rPr altLang="zh-CN" dirty="0" sz="2400" lang="en-US"/>
              <a:t>gadget</a:t>
            </a:r>
            <a:br>
              <a:rPr altLang="zh-CN" dirty="0" lang="en-US"/>
            </a:br>
            <a:br>
              <a:rPr altLang="en-US" dirty="0" lang="zh-CN"/>
            </a:br>
            <a:endParaRPr altLang="en-US" dirty="0" 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dirty="0" lang="en-US"/>
              <a:t>Payload</a:t>
            </a:r>
            <a:r>
              <a:rPr altLang="en-US" dirty="0" lang="zh-CN"/>
              <a:t>字符串</a:t>
            </a:r>
          </a:p>
        </p:txBody>
      </p:sp>
      <p:sp>
        <p:nvSpPr>
          <p:cNvPr id="104867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altLang="en-US" dirty="0" lang="zh-CN"/>
              <a:t>你的十六进制字符串，不能包含字节 （</a:t>
            </a:r>
            <a:r>
              <a:rPr altLang="zh-CN" dirty="0" lang="en-US"/>
              <a:t>0x</a:t>
            </a:r>
            <a:r>
              <a:rPr altLang="en-US" dirty="0" lang="zh-CN"/>
              <a:t>）</a:t>
            </a:r>
            <a:r>
              <a:rPr altLang="zh-CN" dirty="0" lang="en-US"/>
              <a:t>0a</a:t>
            </a:r>
            <a:r>
              <a:rPr altLang="en-US" dirty="0" lang="zh-CN"/>
              <a:t>，因为它的</a:t>
            </a:r>
            <a:r>
              <a:rPr altLang="zh-CN" dirty="0" lang="en-US"/>
              <a:t>ascii</a:t>
            </a:r>
            <a:r>
              <a:rPr altLang="en-US" dirty="0" lang="zh-CN"/>
              <a:t>码是“</a:t>
            </a:r>
            <a:r>
              <a:rPr altLang="zh-CN" dirty="0" lang="en-US"/>
              <a:t>\n</a:t>
            </a:r>
            <a:r>
              <a:rPr altLang="en-US" dirty="0" lang="zh-CN"/>
              <a:t>”，会截断输入</a:t>
            </a:r>
            <a:endParaRPr altLang="zh-CN" dirty="0" lang="en-US"/>
          </a:p>
          <a:p>
            <a:r>
              <a:rPr altLang="zh-CN" dirty="0" lang="en-US"/>
              <a:t>Amd64</a:t>
            </a:r>
            <a:r>
              <a:rPr altLang="en-US" dirty="0" lang="zh-CN"/>
              <a:t>大多都是小端法，本</a:t>
            </a:r>
            <a:r>
              <a:rPr altLang="zh-CN" dirty="0" lang="en-US"/>
              <a:t>lab</a:t>
            </a:r>
            <a:r>
              <a:rPr altLang="en-US" dirty="0" lang="zh-CN"/>
              <a:t>也是小端法。</a:t>
            </a:r>
            <a:endParaRPr altLang="zh-CN" dirty="0" lang="en-US"/>
          </a:p>
          <a:p>
            <a:r>
              <a:rPr altLang="en-US" dirty="0" lang="zh-CN"/>
              <a:t>构造数：</a:t>
            </a:r>
            <a:r>
              <a:rPr altLang="zh-CN" dirty="0" lang="en-US"/>
              <a:t>0xdeadbeef</a:t>
            </a:r>
            <a:r>
              <a:rPr altLang="en-US" dirty="0" lang="zh-CN"/>
              <a:t>，对应的输入应当是“</a:t>
            </a:r>
            <a:r>
              <a:rPr altLang="zh-CN" dirty="0" lang="en-US" err="1"/>
              <a:t>ef</a:t>
            </a:r>
            <a:r>
              <a:rPr altLang="zh-CN" dirty="0" lang="en-US"/>
              <a:t> be ad de</a:t>
            </a:r>
            <a:r>
              <a:rPr altLang="en-US" dirty="0" lang="zh-CN"/>
              <a:t>”</a:t>
            </a:r>
            <a:endParaRPr altLang="zh-CN" dirty="0" lang="en-US"/>
          </a:p>
          <a:p>
            <a:r>
              <a:rPr altLang="en-US" dirty="0" lang="zh-CN"/>
              <a:t>辅助记忆：大端法就是大的在偏移为</a:t>
            </a:r>
            <a:r>
              <a:rPr altLang="zh-CN" dirty="0" lang="en-US"/>
              <a:t>0</a:t>
            </a:r>
            <a:r>
              <a:rPr altLang="en-US" dirty="0" lang="zh-CN"/>
              <a:t>的字节。小端法就是小的在偏移为</a:t>
            </a:r>
            <a:r>
              <a:rPr altLang="zh-CN" dirty="0" lang="en-US"/>
              <a:t>0</a:t>
            </a:r>
            <a:r>
              <a:rPr altLang="en-US" dirty="0" lang="zh-CN"/>
              <a:t>的字节。</a:t>
            </a:r>
            <a:endParaRPr altLang="zh-CN" dirty="0" lang="en-US"/>
          </a:p>
          <a:p>
            <a:endParaRPr altLang="en-US" dirty="0"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845.2582677165353,&quot;width&quot;:12361.724409448818}"/>
</p:tagLst>
</file>

<file path=ppt/tags/tag2.xml><?xml version="1.0" encoding="utf-8"?>
<p:tagLst xmlns:p="http://schemas.openxmlformats.org/presentationml/2006/main">
  <p:tag name="KSO_WM_UNIT_PLACING_PICTURE_USER_VIEWPORT" val="{&quot;height&quot;:4110.5732283464567,&quot;width&quot;:9256.2913385826778}"/>
</p:tagLst>
</file>

<file path=ppt/tags/tag3.xml><?xml version="1.0" encoding="utf-8"?>
<p:tagLst xmlns:p="http://schemas.openxmlformats.org/presentationml/2006/main">
  <p:tag name="KSO_WM_UNIT_PLACING_PICTURE_USER_VIEWPORT" val="{&quot;height&quot;:945.13228346456697,&quot;width&quot;:6930.966929133857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AttackLab</dc:title>
  <dc:creator>whiletruedo</dc:creator>
  <cp:lastModifiedBy>鸿翔 施</cp:lastModifiedBy>
  <dcterms:created xsi:type="dcterms:W3CDTF">2019-10-15T07:34:00Z</dcterms:created>
  <dcterms:modified xsi:type="dcterms:W3CDTF">2025-11-25T11:40:57Z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  <property fmtid="{D5CDD505-2E9C-101B-9397-08002B2CF9AE}" pid="3" name="ICV">
    <vt:lpwstr>ec73cbfc47944d5fa8af85031d865fef</vt:lpwstr>
  </property>
</Properties>
</file>